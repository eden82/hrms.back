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3"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Lst>
  <p:sldSz cy="8229600" cx="14630400"/>
  <p:notesSz cx="8229600" cy="14630400"/>
  <p:embeddedFontLst>
    <p:embeddedFont>
      <p:font typeface="Roboto"/>
      <p:regular r:id="rId22"/>
      <p:bold r:id="rId23"/>
      <p:italic r:id="rId24"/>
      <p:boldItalic r:id="rId25"/>
    </p:embeddedFont>
    <p:embeddedFont>
      <p:font typeface="Roboto Mono"/>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font" Target="fonts/Roboto-regular.fntdata"/><Relationship Id="rId21" Type="http://schemas.openxmlformats.org/officeDocument/2006/relationships/slide" Target="slides/slide17.xml"/><Relationship Id="rId24" Type="http://schemas.openxmlformats.org/officeDocument/2006/relationships/font" Target="fonts/Roboto-italic.fntdata"/><Relationship Id="rId23" Type="http://schemas.openxmlformats.org/officeDocument/2006/relationships/font" Target="fonts/Roboto-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RobotoMono-regular.fntdata"/><Relationship Id="rId25" Type="http://schemas.openxmlformats.org/officeDocument/2006/relationships/font" Target="fonts/Roboto-boldItalic.fntdata"/><Relationship Id="rId28" Type="http://schemas.openxmlformats.org/officeDocument/2006/relationships/font" Target="fonts/RobotoMono-italic.fntdata"/><Relationship Id="rId27" Type="http://schemas.openxmlformats.org/officeDocument/2006/relationships/font" Target="fonts/RobotoMono-bold.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RobotoMono-boldItalic.fntdata"/><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t>‹#›</a:t>
            </a:fld>
            <a:endParaRPr b="0" i="0" sz="1200" u="none" cap="none" strike="noStrik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 name="Google Shape;69;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 name="Google Shape;70;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 name="Google Shape;7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 name="Google Shape;78;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 name="Google Shape;8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 name="Google Shape;11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 name="Google Shape;13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 name="Google Shape;132;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 name="Google Shape;143;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0" name="Google Shape;170;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8" name="Google Shape;178;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827fa7a12b_1_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827fa7a12b_1_2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g3827fa7a12b_1_2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5" name="Google Shape;19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6" name="Google Shape;196;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4" name="Google Shape;204;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5" name="Google Shape;205;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827fa7a12b_1_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827fa7a12b_1_4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3" name="Google Shape;213;g3827fa7a12b_1_4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827fa7a12b_1_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827fa7a12b_1_4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 name="Google Shape;221;g3827fa7a12b_1_4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7" name="Google Shape;227;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 name="Google Shape;228;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9" name="Google Shape;239;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 name="Google Shape;240;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7" name="Google Shape;247;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8" name="Google Shape;248;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4" name="Google Shape;254;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5" name="Google Shape;255;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spTree>
      <p:nvGrpSpPr>
        <p:cNvPr id="10" name="Shape 10"/>
        <p:cNvGrpSpPr/>
        <p:nvPr/>
      </p:nvGrpSpPr>
      <p:grpSpPr>
        <a:xfrm>
          <a:off x="0" y="0"/>
          <a:ext cx="0" cy="0"/>
          <a:chOff x="0" y="0"/>
          <a:chExt cx="0" cy="0"/>
        </a:xfrm>
      </p:grpSpPr>
      <p:sp>
        <p:nvSpPr>
          <p:cNvPr id="11" name="Google Shape;11;p2"/>
          <p:cNvSpPr/>
          <p:nvPr/>
        </p:nvSpPr>
        <p:spPr>
          <a:xfrm>
            <a:off x="0" y="0"/>
            <a:ext cx="14630400" cy="8229600"/>
          </a:xfrm>
          <a:prstGeom prst="rect">
            <a:avLst/>
          </a:prstGeom>
          <a:solidFill>
            <a:srgbClr val="01030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0" y="0"/>
            <a:ext cx="14630400" cy="8229600"/>
          </a:xfrm>
          <a:prstGeom prst="rect">
            <a:avLst/>
          </a:prstGeom>
          <a:solidFill>
            <a:srgbClr val="2121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 name="Google Shape;13;p2">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spTree>
      <p:nvGrpSpPr>
        <p:cNvPr id="14" name="Shape 14"/>
        <p:cNvGrpSpPr/>
        <p:nvPr/>
      </p:nvGrpSpPr>
      <p:grpSpPr>
        <a:xfrm>
          <a:off x="0" y="0"/>
          <a:ext cx="0" cy="0"/>
          <a:chOff x="0" y="0"/>
          <a:chExt cx="0" cy="0"/>
        </a:xfrm>
      </p:grpSpPr>
      <p:sp>
        <p:nvSpPr>
          <p:cNvPr id="15" name="Google Shape;15;p3"/>
          <p:cNvSpPr/>
          <p:nvPr/>
        </p:nvSpPr>
        <p:spPr>
          <a:xfrm>
            <a:off x="0" y="0"/>
            <a:ext cx="14630400" cy="8229600"/>
          </a:xfrm>
          <a:prstGeom prst="rect">
            <a:avLst/>
          </a:prstGeom>
          <a:solidFill>
            <a:srgbClr val="01030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3"/>
          <p:cNvSpPr/>
          <p:nvPr/>
        </p:nvSpPr>
        <p:spPr>
          <a:xfrm>
            <a:off x="0" y="0"/>
            <a:ext cx="14630400" cy="8229600"/>
          </a:xfrm>
          <a:prstGeom prst="rect">
            <a:avLst/>
          </a:prstGeom>
          <a:solidFill>
            <a:srgbClr val="2121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 name="Google Shape;17;p3">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spTree>
      <p:nvGrpSpPr>
        <p:cNvPr id="18" name="Shape 18"/>
        <p:cNvGrpSpPr/>
        <p:nvPr/>
      </p:nvGrpSpPr>
      <p:grpSpPr>
        <a:xfrm>
          <a:off x="0" y="0"/>
          <a:ext cx="0" cy="0"/>
          <a:chOff x="0" y="0"/>
          <a:chExt cx="0" cy="0"/>
        </a:xfrm>
      </p:grpSpPr>
      <p:sp>
        <p:nvSpPr>
          <p:cNvPr id="19" name="Google Shape;19;p4"/>
          <p:cNvSpPr/>
          <p:nvPr/>
        </p:nvSpPr>
        <p:spPr>
          <a:xfrm>
            <a:off x="0" y="0"/>
            <a:ext cx="14630400" cy="8229600"/>
          </a:xfrm>
          <a:prstGeom prst="rect">
            <a:avLst/>
          </a:prstGeom>
          <a:solidFill>
            <a:srgbClr val="01030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0"/>
            <a:ext cx="14630400" cy="8229600"/>
          </a:xfrm>
          <a:prstGeom prst="rect">
            <a:avLst/>
          </a:prstGeom>
          <a:solidFill>
            <a:srgbClr val="2121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 name="Google Shape;21;p4">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spTree>
      <p:nvGrpSpPr>
        <p:cNvPr id="22" name="Shape 22"/>
        <p:cNvGrpSpPr/>
        <p:nvPr/>
      </p:nvGrpSpPr>
      <p:grpSpPr>
        <a:xfrm>
          <a:off x="0" y="0"/>
          <a:ext cx="0" cy="0"/>
          <a:chOff x="0" y="0"/>
          <a:chExt cx="0" cy="0"/>
        </a:xfrm>
      </p:grpSpPr>
      <p:sp>
        <p:nvSpPr>
          <p:cNvPr id="23" name="Google Shape;23;p5"/>
          <p:cNvSpPr/>
          <p:nvPr/>
        </p:nvSpPr>
        <p:spPr>
          <a:xfrm>
            <a:off x="0" y="0"/>
            <a:ext cx="14630400" cy="8229600"/>
          </a:xfrm>
          <a:prstGeom prst="rect">
            <a:avLst/>
          </a:prstGeom>
          <a:solidFill>
            <a:srgbClr val="01030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5"/>
          <p:cNvSpPr/>
          <p:nvPr/>
        </p:nvSpPr>
        <p:spPr>
          <a:xfrm>
            <a:off x="0" y="0"/>
            <a:ext cx="14630400" cy="8229600"/>
          </a:xfrm>
          <a:prstGeom prst="rect">
            <a:avLst/>
          </a:prstGeom>
          <a:solidFill>
            <a:srgbClr val="2121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5" name="Google Shape;25;p5">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spTree>
      <p:nvGrpSpPr>
        <p:cNvPr id="26" name="Shape 26"/>
        <p:cNvGrpSpPr/>
        <p:nvPr/>
      </p:nvGrpSpPr>
      <p:grpSpPr>
        <a:xfrm>
          <a:off x="0" y="0"/>
          <a:ext cx="0" cy="0"/>
          <a:chOff x="0" y="0"/>
          <a:chExt cx="0" cy="0"/>
        </a:xfrm>
      </p:grpSpPr>
      <p:sp>
        <p:nvSpPr>
          <p:cNvPr id="27" name="Google Shape;27;p6"/>
          <p:cNvSpPr/>
          <p:nvPr/>
        </p:nvSpPr>
        <p:spPr>
          <a:xfrm>
            <a:off x="0" y="0"/>
            <a:ext cx="14630400" cy="8229600"/>
          </a:xfrm>
          <a:prstGeom prst="rect">
            <a:avLst/>
          </a:prstGeom>
          <a:solidFill>
            <a:srgbClr val="01030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6"/>
          <p:cNvSpPr/>
          <p:nvPr/>
        </p:nvSpPr>
        <p:spPr>
          <a:xfrm>
            <a:off x="0" y="0"/>
            <a:ext cx="14630400" cy="8229600"/>
          </a:xfrm>
          <a:prstGeom prst="rect">
            <a:avLst/>
          </a:prstGeom>
          <a:solidFill>
            <a:srgbClr val="2121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9" name="Google Shape;29;p6">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spTree>
      <p:nvGrpSpPr>
        <p:cNvPr id="30" name="Shape 30"/>
        <p:cNvGrpSpPr/>
        <p:nvPr/>
      </p:nvGrpSpPr>
      <p:grpSpPr>
        <a:xfrm>
          <a:off x="0" y="0"/>
          <a:ext cx="0" cy="0"/>
          <a:chOff x="0" y="0"/>
          <a:chExt cx="0" cy="0"/>
        </a:xfrm>
      </p:grpSpPr>
      <p:sp>
        <p:nvSpPr>
          <p:cNvPr id="31" name="Google Shape;31;p7"/>
          <p:cNvSpPr/>
          <p:nvPr/>
        </p:nvSpPr>
        <p:spPr>
          <a:xfrm>
            <a:off x="0" y="0"/>
            <a:ext cx="14630400" cy="8229600"/>
          </a:xfrm>
          <a:prstGeom prst="rect">
            <a:avLst/>
          </a:prstGeom>
          <a:solidFill>
            <a:srgbClr val="01030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7"/>
          <p:cNvSpPr/>
          <p:nvPr/>
        </p:nvSpPr>
        <p:spPr>
          <a:xfrm>
            <a:off x="0" y="0"/>
            <a:ext cx="14630400" cy="8229600"/>
          </a:xfrm>
          <a:prstGeom prst="rect">
            <a:avLst/>
          </a:prstGeom>
          <a:solidFill>
            <a:srgbClr val="2121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3" name="Google Shape;33;p7">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spTree>
      <p:nvGrpSpPr>
        <p:cNvPr id="34" name="Shape 34"/>
        <p:cNvGrpSpPr/>
        <p:nvPr/>
      </p:nvGrpSpPr>
      <p:grpSpPr>
        <a:xfrm>
          <a:off x="0" y="0"/>
          <a:ext cx="0" cy="0"/>
          <a:chOff x="0" y="0"/>
          <a:chExt cx="0" cy="0"/>
        </a:xfrm>
      </p:grpSpPr>
      <p:sp>
        <p:nvSpPr>
          <p:cNvPr id="35" name="Google Shape;35;p8"/>
          <p:cNvSpPr/>
          <p:nvPr/>
        </p:nvSpPr>
        <p:spPr>
          <a:xfrm>
            <a:off x="0" y="0"/>
            <a:ext cx="14630400" cy="8229600"/>
          </a:xfrm>
          <a:prstGeom prst="rect">
            <a:avLst/>
          </a:prstGeom>
          <a:solidFill>
            <a:srgbClr val="01030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8"/>
          <p:cNvSpPr/>
          <p:nvPr/>
        </p:nvSpPr>
        <p:spPr>
          <a:xfrm>
            <a:off x="0" y="0"/>
            <a:ext cx="14630400" cy="8229600"/>
          </a:xfrm>
          <a:prstGeom prst="rect">
            <a:avLst/>
          </a:prstGeom>
          <a:solidFill>
            <a:srgbClr val="2121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7" name="Google Shape;37;p8">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spTree>
      <p:nvGrpSpPr>
        <p:cNvPr id="38" name="Shape 38"/>
        <p:cNvGrpSpPr/>
        <p:nvPr/>
      </p:nvGrpSpPr>
      <p:grpSpPr>
        <a:xfrm>
          <a:off x="0" y="0"/>
          <a:ext cx="0" cy="0"/>
          <a:chOff x="0" y="0"/>
          <a:chExt cx="0" cy="0"/>
        </a:xfrm>
      </p:grpSpPr>
      <p:sp>
        <p:nvSpPr>
          <p:cNvPr id="39" name="Google Shape;39;p9"/>
          <p:cNvSpPr/>
          <p:nvPr/>
        </p:nvSpPr>
        <p:spPr>
          <a:xfrm>
            <a:off x="0" y="0"/>
            <a:ext cx="14630400" cy="8229600"/>
          </a:xfrm>
          <a:prstGeom prst="rect">
            <a:avLst/>
          </a:prstGeom>
          <a:solidFill>
            <a:srgbClr val="01030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9"/>
          <p:cNvSpPr/>
          <p:nvPr/>
        </p:nvSpPr>
        <p:spPr>
          <a:xfrm>
            <a:off x="0" y="0"/>
            <a:ext cx="14630400" cy="8229600"/>
          </a:xfrm>
          <a:prstGeom prst="rect">
            <a:avLst/>
          </a:prstGeom>
          <a:solidFill>
            <a:srgbClr val="2121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1" name="Google Shape;41;p9">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9 master">
  <p:cSld name="Slide 9 master">
    <p:spTree>
      <p:nvGrpSpPr>
        <p:cNvPr id="42" name="Shape 42"/>
        <p:cNvGrpSpPr/>
        <p:nvPr/>
      </p:nvGrpSpPr>
      <p:grpSpPr>
        <a:xfrm>
          <a:off x="0" y="0"/>
          <a:ext cx="0" cy="0"/>
          <a:chOff x="0" y="0"/>
          <a:chExt cx="0" cy="0"/>
        </a:xfrm>
      </p:grpSpPr>
      <p:sp>
        <p:nvSpPr>
          <p:cNvPr id="43" name="Google Shape;43;p10"/>
          <p:cNvSpPr/>
          <p:nvPr/>
        </p:nvSpPr>
        <p:spPr>
          <a:xfrm>
            <a:off x="0" y="0"/>
            <a:ext cx="14630400" cy="8229600"/>
          </a:xfrm>
          <a:prstGeom prst="rect">
            <a:avLst/>
          </a:prstGeom>
          <a:solidFill>
            <a:srgbClr val="01030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10"/>
          <p:cNvSpPr/>
          <p:nvPr/>
        </p:nvSpPr>
        <p:spPr>
          <a:xfrm>
            <a:off x="0" y="0"/>
            <a:ext cx="14630400" cy="8229600"/>
          </a:xfrm>
          <a:prstGeom prst="rect">
            <a:avLst/>
          </a:prstGeom>
          <a:solidFill>
            <a:srgbClr val="2121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5" name="Google Shape;45;p10">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0 master">
  <p:cSld name="Slide 10 master">
    <p:spTree>
      <p:nvGrpSpPr>
        <p:cNvPr id="46" name="Shape 46"/>
        <p:cNvGrpSpPr/>
        <p:nvPr/>
      </p:nvGrpSpPr>
      <p:grpSpPr>
        <a:xfrm>
          <a:off x="0" y="0"/>
          <a:ext cx="0" cy="0"/>
          <a:chOff x="0" y="0"/>
          <a:chExt cx="0" cy="0"/>
        </a:xfrm>
      </p:grpSpPr>
      <p:sp>
        <p:nvSpPr>
          <p:cNvPr id="47" name="Google Shape;47;p11"/>
          <p:cNvSpPr/>
          <p:nvPr/>
        </p:nvSpPr>
        <p:spPr>
          <a:xfrm>
            <a:off x="0" y="0"/>
            <a:ext cx="14630400" cy="8229600"/>
          </a:xfrm>
          <a:prstGeom prst="rect">
            <a:avLst/>
          </a:prstGeom>
          <a:solidFill>
            <a:srgbClr val="01030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11"/>
          <p:cNvSpPr/>
          <p:nvPr/>
        </p:nvSpPr>
        <p:spPr>
          <a:xfrm>
            <a:off x="0" y="0"/>
            <a:ext cx="14630400" cy="8229600"/>
          </a:xfrm>
          <a:prstGeom prst="rect">
            <a:avLst/>
          </a:prstGeom>
          <a:solidFill>
            <a:srgbClr val="2121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9" name="Google Shape;49;p11">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1 master">
  <p:cSld name="Slide 11 master">
    <p:spTree>
      <p:nvGrpSpPr>
        <p:cNvPr id="50" name="Shape 50"/>
        <p:cNvGrpSpPr/>
        <p:nvPr/>
      </p:nvGrpSpPr>
      <p:grpSpPr>
        <a:xfrm>
          <a:off x="0" y="0"/>
          <a:ext cx="0" cy="0"/>
          <a:chOff x="0" y="0"/>
          <a:chExt cx="0" cy="0"/>
        </a:xfrm>
      </p:grpSpPr>
      <p:sp>
        <p:nvSpPr>
          <p:cNvPr id="51" name="Google Shape;51;p12"/>
          <p:cNvSpPr/>
          <p:nvPr/>
        </p:nvSpPr>
        <p:spPr>
          <a:xfrm>
            <a:off x="0" y="0"/>
            <a:ext cx="14630400" cy="8229600"/>
          </a:xfrm>
          <a:prstGeom prst="rect">
            <a:avLst/>
          </a:prstGeom>
          <a:solidFill>
            <a:srgbClr val="01030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12"/>
          <p:cNvSpPr/>
          <p:nvPr/>
        </p:nvSpPr>
        <p:spPr>
          <a:xfrm>
            <a:off x="0" y="0"/>
            <a:ext cx="14630400" cy="8229600"/>
          </a:xfrm>
          <a:prstGeom prst="rect">
            <a:avLst/>
          </a:prstGeom>
          <a:solidFill>
            <a:srgbClr val="2121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3" name="Google Shape;53;p12">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2 master">
  <p:cSld name="Slide 12 master">
    <p:spTree>
      <p:nvGrpSpPr>
        <p:cNvPr id="54" name="Shape 54"/>
        <p:cNvGrpSpPr/>
        <p:nvPr/>
      </p:nvGrpSpPr>
      <p:grpSpPr>
        <a:xfrm>
          <a:off x="0" y="0"/>
          <a:ext cx="0" cy="0"/>
          <a:chOff x="0" y="0"/>
          <a:chExt cx="0" cy="0"/>
        </a:xfrm>
      </p:grpSpPr>
      <p:sp>
        <p:nvSpPr>
          <p:cNvPr id="55" name="Google Shape;55;p13"/>
          <p:cNvSpPr/>
          <p:nvPr/>
        </p:nvSpPr>
        <p:spPr>
          <a:xfrm>
            <a:off x="0" y="0"/>
            <a:ext cx="14630400" cy="8229600"/>
          </a:xfrm>
          <a:prstGeom prst="rect">
            <a:avLst/>
          </a:prstGeom>
          <a:solidFill>
            <a:srgbClr val="01030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13"/>
          <p:cNvSpPr/>
          <p:nvPr/>
        </p:nvSpPr>
        <p:spPr>
          <a:xfrm>
            <a:off x="0" y="0"/>
            <a:ext cx="14630400" cy="8229600"/>
          </a:xfrm>
          <a:prstGeom prst="rect">
            <a:avLst/>
          </a:prstGeom>
          <a:solidFill>
            <a:srgbClr val="2121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7" name="Google Shape;57;p13">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3 master">
  <p:cSld name="Slide 13 master">
    <p:spTree>
      <p:nvGrpSpPr>
        <p:cNvPr id="58" name="Shape 58"/>
        <p:cNvGrpSpPr/>
        <p:nvPr/>
      </p:nvGrpSpPr>
      <p:grpSpPr>
        <a:xfrm>
          <a:off x="0" y="0"/>
          <a:ext cx="0" cy="0"/>
          <a:chOff x="0" y="0"/>
          <a:chExt cx="0" cy="0"/>
        </a:xfrm>
      </p:grpSpPr>
      <p:sp>
        <p:nvSpPr>
          <p:cNvPr id="59" name="Google Shape;59;p14"/>
          <p:cNvSpPr/>
          <p:nvPr/>
        </p:nvSpPr>
        <p:spPr>
          <a:xfrm>
            <a:off x="0" y="0"/>
            <a:ext cx="14630400" cy="8229600"/>
          </a:xfrm>
          <a:prstGeom prst="rect">
            <a:avLst/>
          </a:prstGeom>
          <a:solidFill>
            <a:srgbClr val="01030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14"/>
          <p:cNvSpPr/>
          <p:nvPr/>
        </p:nvSpPr>
        <p:spPr>
          <a:xfrm>
            <a:off x="0" y="0"/>
            <a:ext cx="14630400" cy="8229600"/>
          </a:xfrm>
          <a:prstGeom prst="rect">
            <a:avLst/>
          </a:prstGeom>
          <a:solidFill>
            <a:srgbClr val="2121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1" name="Google Shape;61;p14">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4 master">
  <p:cSld name="Slide 14 master">
    <p:spTree>
      <p:nvGrpSpPr>
        <p:cNvPr id="62" name="Shape 62"/>
        <p:cNvGrpSpPr/>
        <p:nvPr/>
      </p:nvGrpSpPr>
      <p:grpSpPr>
        <a:xfrm>
          <a:off x="0" y="0"/>
          <a:ext cx="0" cy="0"/>
          <a:chOff x="0" y="0"/>
          <a:chExt cx="0" cy="0"/>
        </a:xfrm>
      </p:grpSpPr>
      <p:sp>
        <p:nvSpPr>
          <p:cNvPr id="63" name="Google Shape;63;p15"/>
          <p:cNvSpPr/>
          <p:nvPr/>
        </p:nvSpPr>
        <p:spPr>
          <a:xfrm>
            <a:off x="0" y="0"/>
            <a:ext cx="14630400" cy="8229600"/>
          </a:xfrm>
          <a:prstGeom prst="rect">
            <a:avLst/>
          </a:prstGeom>
          <a:solidFill>
            <a:srgbClr val="01030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15"/>
          <p:cNvSpPr/>
          <p:nvPr/>
        </p:nvSpPr>
        <p:spPr>
          <a:xfrm>
            <a:off x="0" y="0"/>
            <a:ext cx="14630400" cy="8229600"/>
          </a:xfrm>
          <a:prstGeom prst="rect">
            <a:avLst/>
          </a:prstGeom>
          <a:solidFill>
            <a:srgbClr val="2121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5" name="Google Shape;65;p15">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6" name="Shape 6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2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21.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 Id="rId3" Type="http://schemas.openxmlformats.org/officeDocument/2006/relationships/image" Target="../media/image2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 Id="rId3" Type="http://schemas.openxmlformats.org/officeDocument/2006/relationships/image" Target="../media/image2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1.xml"/><Relationship Id="rId3"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 Id="rId3"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Relationship Id="rId3"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pic>
        <p:nvPicPr>
          <p:cNvPr descr="preencoded.png" id="72" name="Google Shape;72;p17"/>
          <p:cNvPicPr preferRelativeResize="0"/>
          <p:nvPr/>
        </p:nvPicPr>
        <p:blipFill rotWithShape="1">
          <a:blip r:embed="rId3">
            <a:alphaModFix/>
          </a:blip>
          <a:srcRect b="0" l="0" r="0" t="0"/>
          <a:stretch/>
        </p:blipFill>
        <p:spPr>
          <a:xfrm>
            <a:off x="0" y="0"/>
            <a:ext cx="7315200" cy="8229600"/>
          </a:xfrm>
          <a:prstGeom prst="rect">
            <a:avLst/>
          </a:prstGeom>
          <a:noFill/>
          <a:ln>
            <a:noFill/>
          </a:ln>
        </p:spPr>
      </p:pic>
      <p:sp>
        <p:nvSpPr>
          <p:cNvPr id="73" name="Google Shape;73;p17"/>
          <p:cNvSpPr/>
          <p:nvPr/>
        </p:nvSpPr>
        <p:spPr>
          <a:xfrm>
            <a:off x="8179500" y="2442525"/>
            <a:ext cx="4930800" cy="567000"/>
          </a:xfrm>
          <a:prstGeom prst="rect">
            <a:avLst/>
          </a:prstGeom>
          <a:noFill/>
          <a:ln>
            <a:noFill/>
          </a:ln>
        </p:spPr>
        <p:txBody>
          <a:bodyPr anchorCtr="0" anchor="t" bIns="0" lIns="0" spcFirstLastPara="1" rIns="0" wrap="square" tIns="0">
            <a:noAutofit/>
          </a:bodyPr>
          <a:lstStyle/>
          <a:p>
            <a:pPr indent="0" lvl="0" marL="0" marR="0" rtl="0" algn="l">
              <a:lnSpc>
                <a:spcPct val="125352"/>
              </a:lnSpc>
              <a:spcBef>
                <a:spcPts val="0"/>
              </a:spcBef>
              <a:spcAft>
                <a:spcPts val="0"/>
              </a:spcAft>
              <a:buClr>
                <a:srgbClr val="FFFFFF"/>
              </a:buClr>
              <a:buSzPts val="3550"/>
              <a:buFont typeface="Roboto Mono"/>
              <a:buNone/>
            </a:pPr>
            <a:r>
              <a:rPr b="0" i="0" lang="en-US" sz="3550" u="none" cap="none" strike="noStrike">
                <a:solidFill>
                  <a:srgbClr val="FFFFFF"/>
                </a:solidFill>
                <a:latin typeface="Roboto Mono"/>
                <a:ea typeface="Roboto Mono"/>
                <a:cs typeface="Roboto Mono"/>
                <a:sym typeface="Roboto Mono"/>
              </a:rPr>
              <a:t>Internship</a:t>
            </a:r>
            <a:r>
              <a:rPr lang="en-US" sz="3550">
                <a:solidFill>
                  <a:srgbClr val="FFFFFF"/>
                </a:solidFill>
                <a:latin typeface="Roboto Mono"/>
                <a:ea typeface="Roboto Mono"/>
                <a:cs typeface="Roboto Mono"/>
                <a:sym typeface="Roboto Mono"/>
              </a:rPr>
              <a:t> </a:t>
            </a:r>
            <a:r>
              <a:rPr b="0" i="0" lang="en-US" sz="3550" u="none" cap="none" strike="noStrike">
                <a:solidFill>
                  <a:srgbClr val="FFFFFF"/>
                </a:solidFill>
                <a:latin typeface="Roboto Mono"/>
                <a:ea typeface="Roboto Mono"/>
                <a:cs typeface="Roboto Mono"/>
                <a:sym typeface="Roboto Mono"/>
              </a:rPr>
              <a:t>Report</a:t>
            </a:r>
            <a:endParaRPr b="0" i="0" sz="3550" u="none" cap="none" strike="noStrike"/>
          </a:p>
        </p:txBody>
      </p:sp>
      <p:sp>
        <p:nvSpPr>
          <p:cNvPr id="74" name="Google Shape;74;p17"/>
          <p:cNvSpPr/>
          <p:nvPr/>
        </p:nvSpPr>
        <p:spPr>
          <a:xfrm>
            <a:off x="8179500" y="3645225"/>
            <a:ext cx="5727600" cy="1443000"/>
          </a:xfrm>
          <a:prstGeom prst="rect">
            <a:avLst/>
          </a:prstGeom>
          <a:noFill/>
          <a:ln>
            <a:noFill/>
          </a:ln>
        </p:spPr>
        <p:txBody>
          <a:bodyPr anchorCtr="0" anchor="t" bIns="0" lIns="0" spcFirstLastPara="1" rIns="0" wrap="square" tIns="0">
            <a:noAutofit/>
          </a:bodyPr>
          <a:lstStyle/>
          <a:p>
            <a:pPr indent="0" lvl="0" marL="0" marR="0" rtl="0" algn="l">
              <a:lnSpc>
                <a:spcPct val="124528"/>
              </a:lnSpc>
              <a:spcBef>
                <a:spcPts val="0"/>
              </a:spcBef>
              <a:spcAft>
                <a:spcPts val="0"/>
              </a:spcAft>
              <a:buClr>
                <a:srgbClr val="DCFF50"/>
              </a:buClr>
              <a:buSzPts val="2650"/>
              <a:buFont typeface="Roboto Mono"/>
              <a:buNone/>
            </a:pPr>
            <a:r>
              <a:rPr b="1" i="0" lang="en-US" sz="2650" u="none" cap="none" strike="noStrike">
                <a:solidFill>
                  <a:srgbClr val="DCFF50"/>
                </a:solidFill>
                <a:latin typeface="Roboto Mono"/>
                <a:ea typeface="Roboto Mono"/>
                <a:cs typeface="Roboto Mono"/>
                <a:sym typeface="Roboto Mono"/>
              </a:rPr>
              <a:t>Human Resource Management  System</a:t>
            </a:r>
            <a:r>
              <a:rPr b="0" i="0" lang="en-US" sz="2650" u="none" cap="none" strike="noStrike">
                <a:solidFill>
                  <a:srgbClr val="FFFFFF"/>
                </a:solidFill>
                <a:latin typeface="Roboto Mono"/>
                <a:ea typeface="Roboto Mono"/>
                <a:cs typeface="Roboto Mono"/>
                <a:sym typeface="Roboto Mono"/>
              </a:rPr>
              <a:t> (</a:t>
            </a:r>
            <a:r>
              <a:rPr b="0" i="0" lang="en-US" sz="2650" u="none" cap="none" strike="noStrike">
                <a:solidFill>
                  <a:srgbClr val="DCFF50"/>
                </a:solidFill>
                <a:latin typeface="Roboto Mono"/>
                <a:ea typeface="Roboto Mono"/>
                <a:cs typeface="Roboto Mono"/>
                <a:sym typeface="Roboto Mono"/>
              </a:rPr>
              <a:t>HRMS</a:t>
            </a:r>
            <a:r>
              <a:rPr b="0" i="0" lang="en-US" sz="2650" u="none" cap="none" strike="noStrike">
                <a:solidFill>
                  <a:srgbClr val="FFFFFF"/>
                </a:solidFill>
                <a:latin typeface="Roboto Mono"/>
                <a:ea typeface="Roboto Mono"/>
                <a:cs typeface="Roboto Mono"/>
                <a:sym typeface="Roboto Mono"/>
              </a:rPr>
              <a:t>)  </a:t>
            </a:r>
            <a:r>
              <a:rPr b="0" i="1" lang="en-US" sz="2650" u="none" cap="none" strike="noStrike">
                <a:solidFill>
                  <a:srgbClr val="FFFFFF"/>
                </a:solidFill>
                <a:latin typeface="Roboto Mono"/>
                <a:ea typeface="Roboto Mono"/>
                <a:cs typeface="Roboto Mono"/>
                <a:sym typeface="Roboto Mono"/>
              </a:rPr>
              <a:t>Development at AFRICOM PLC</a:t>
            </a:r>
            <a:endParaRPr b="0" i="0" sz="2650" u="none" cap="none" strike="noStrike"/>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pic>
        <p:nvPicPr>
          <p:cNvPr descr="preencoded.png" id="80" name="Google Shape;80;p18"/>
          <p:cNvPicPr preferRelativeResize="0"/>
          <p:nvPr/>
        </p:nvPicPr>
        <p:blipFill rotWithShape="1">
          <a:blip r:embed="rId3">
            <a:alphaModFix/>
          </a:blip>
          <a:srcRect b="0" l="0" r="0" t="0"/>
          <a:stretch/>
        </p:blipFill>
        <p:spPr>
          <a:xfrm>
            <a:off x="283488" y="2216825"/>
            <a:ext cx="6748105" cy="3795832"/>
          </a:xfrm>
          <a:prstGeom prst="rect">
            <a:avLst/>
          </a:prstGeom>
          <a:noFill/>
          <a:ln>
            <a:noFill/>
          </a:ln>
        </p:spPr>
      </p:pic>
      <p:sp>
        <p:nvSpPr>
          <p:cNvPr id="81" name="Google Shape;81;p18"/>
          <p:cNvSpPr/>
          <p:nvPr/>
        </p:nvSpPr>
        <p:spPr>
          <a:xfrm>
            <a:off x="8109000" y="1875575"/>
            <a:ext cx="5980800" cy="1391700"/>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FFFFFF"/>
              </a:buClr>
              <a:buSzPts val="4450"/>
              <a:buFont typeface="Roboto Mono"/>
              <a:buNone/>
            </a:pPr>
            <a:r>
              <a:rPr b="0" i="0" lang="en-US" sz="4450" u="none" cap="none" strike="noStrike">
                <a:solidFill>
                  <a:srgbClr val="FFFFFF"/>
                </a:solidFill>
                <a:latin typeface="Roboto Mono"/>
                <a:ea typeface="Roboto Mono"/>
                <a:cs typeface="Roboto Mono"/>
                <a:sym typeface="Roboto Mono"/>
              </a:rPr>
              <a:t>Development of a Multi-Tenant HRMS</a:t>
            </a:r>
            <a:endParaRPr b="0" i="0" sz="4450" u="none" cap="none" strike="noStrike"/>
          </a:p>
        </p:txBody>
      </p:sp>
      <p:sp>
        <p:nvSpPr>
          <p:cNvPr id="82" name="Google Shape;82;p18"/>
          <p:cNvSpPr/>
          <p:nvPr/>
        </p:nvSpPr>
        <p:spPr>
          <a:xfrm>
            <a:off x="8179800" y="3885125"/>
            <a:ext cx="5656800" cy="3630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5E0DF"/>
              </a:buClr>
              <a:buSzPts val="1750"/>
              <a:buFont typeface="Roboto"/>
              <a:buNone/>
            </a:pPr>
            <a:r>
              <a:rPr b="0" i="0" lang="en-US" sz="1750" u="none" cap="none" strike="noStrike">
                <a:solidFill>
                  <a:srgbClr val="E5E0DF"/>
                </a:solidFill>
                <a:latin typeface="Roboto"/>
                <a:ea typeface="Roboto"/>
                <a:cs typeface="Roboto"/>
                <a:sym typeface="Roboto"/>
              </a:rPr>
              <a:t>Presented by: </a:t>
            </a:r>
            <a:r>
              <a:rPr lang="en-US" sz="1750">
                <a:solidFill>
                  <a:srgbClr val="E5E0DF"/>
                </a:solidFill>
                <a:latin typeface="Roboto"/>
                <a:ea typeface="Roboto"/>
                <a:cs typeface="Roboto"/>
                <a:sym typeface="Roboto"/>
              </a:rPr>
              <a:t>Salem Mesfin</a:t>
            </a:r>
            <a:endParaRPr b="0" i="0" sz="1750" u="none" cap="none" strike="noStrike"/>
          </a:p>
        </p:txBody>
      </p:sp>
      <p:sp>
        <p:nvSpPr>
          <p:cNvPr id="83" name="Google Shape;83;p18"/>
          <p:cNvSpPr/>
          <p:nvPr/>
        </p:nvSpPr>
        <p:spPr>
          <a:xfrm>
            <a:off x="8179800" y="4503175"/>
            <a:ext cx="5656800" cy="3630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5E0DF"/>
              </a:buClr>
              <a:buSzPts val="1750"/>
              <a:buFont typeface="Roboto"/>
              <a:buNone/>
            </a:pPr>
            <a:r>
              <a:rPr b="0" i="0" lang="en-US" sz="1750" u="none" cap="none" strike="noStrike">
                <a:solidFill>
                  <a:srgbClr val="E5E0DF"/>
                </a:solidFill>
                <a:latin typeface="Roboto"/>
                <a:ea typeface="Roboto"/>
                <a:cs typeface="Roboto"/>
                <a:sym typeface="Roboto"/>
              </a:rPr>
              <a:t>ID: Ugr/2</a:t>
            </a:r>
            <a:r>
              <a:rPr lang="en-US" sz="1750">
                <a:solidFill>
                  <a:srgbClr val="E5E0DF"/>
                </a:solidFill>
                <a:latin typeface="Roboto"/>
                <a:ea typeface="Roboto"/>
                <a:cs typeface="Roboto"/>
                <a:sym typeface="Roboto"/>
              </a:rPr>
              <a:t>5407</a:t>
            </a:r>
            <a:r>
              <a:rPr b="0" i="0" lang="en-US" sz="1750" u="none" cap="none" strike="noStrike">
                <a:solidFill>
                  <a:srgbClr val="E5E0DF"/>
                </a:solidFill>
                <a:latin typeface="Roboto"/>
                <a:ea typeface="Roboto"/>
                <a:cs typeface="Roboto"/>
                <a:sym typeface="Roboto"/>
              </a:rPr>
              <a:t>/14</a:t>
            </a:r>
            <a:endParaRPr b="0" i="0" sz="1750" u="none" cap="none" strike="noStrike"/>
          </a:p>
        </p:txBody>
      </p:sp>
      <p:sp>
        <p:nvSpPr>
          <p:cNvPr id="84" name="Google Shape;84;p18"/>
          <p:cNvSpPr/>
          <p:nvPr/>
        </p:nvSpPr>
        <p:spPr>
          <a:xfrm>
            <a:off x="8179800" y="5121225"/>
            <a:ext cx="5656800" cy="3630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5E0DF"/>
              </a:buClr>
              <a:buSzPts val="1750"/>
              <a:buFont typeface="Roboto"/>
              <a:buNone/>
            </a:pPr>
            <a:r>
              <a:rPr b="0" i="0" lang="en-US" sz="1750" u="none" cap="none" strike="noStrike">
                <a:solidFill>
                  <a:srgbClr val="E5E0DF"/>
                </a:solidFill>
                <a:latin typeface="Roboto"/>
                <a:ea typeface="Roboto"/>
                <a:cs typeface="Roboto"/>
                <a:sym typeface="Roboto"/>
              </a:rPr>
              <a:t>Department: Computer Science and Engineering</a:t>
            </a:r>
            <a:endParaRPr b="0" i="0" sz="1750" u="none" cap="none" strike="noStrike"/>
          </a:p>
        </p:txBody>
      </p:sp>
      <p:sp>
        <p:nvSpPr>
          <p:cNvPr id="85" name="Google Shape;85;p18"/>
          <p:cNvSpPr/>
          <p:nvPr/>
        </p:nvSpPr>
        <p:spPr>
          <a:xfrm>
            <a:off x="8179800" y="5739300"/>
            <a:ext cx="5656800" cy="3630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5E0DF"/>
              </a:buClr>
              <a:buSzPts val="1750"/>
              <a:buFont typeface="Roboto"/>
              <a:buNone/>
            </a:pPr>
            <a:r>
              <a:rPr b="0" i="0" lang="en-US" sz="1750" u="none" cap="none" strike="noStrike">
                <a:solidFill>
                  <a:srgbClr val="E5E0DF"/>
                </a:solidFill>
                <a:latin typeface="Roboto"/>
                <a:ea typeface="Roboto"/>
                <a:cs typeface="Roboto"/>
                <a:sym typeface="Roboto"/>
              </a:rPr>
              <a:t>Adama Science and Technology University</a:t>
            </a:r>
            <a:endParaRPr b="0" i="0" sz="1750" u="none" cap="none" strike="noStrike"/>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9"/>
          <p:cNvSpPr/>
          <p:nvPr/>
        </p:nvSpPr>
        <p:spPr>
          <a:xfrm>
            <a:off x="793790" y="765215"/>
            <a:ext cx="4536519" cy="566976"/>
          </a:xfrm>
          <a:prstGeom prst="rect">
            <a:avLst/>
          </a:prstGeom>
          <a:noFill/>
          <a:ln>
            <a:noFill/>
          </a:ln>
        </p:spPr>
        <p:txBody>
          <a:bodyPr anchorCtr="0" anchor="t" bIns="0" lIns="0" spcFirstLastPara="1" rIns="0" wrap="square" tIns="0">
            <a:noAutofit/>
          </a:bodyPr>
          <a:lstStyle/>
          <a:p>
            <a:pPr indent="0" lvl="0" marL="0" marR="0" rtl="0" algn="l">
              <a:lnSpc>
                <a:spcPct val="125352"/>
              </a:lnSpc>
              <a:spcBef>
                <a:spcPts val="0"/>
              </a:spcBef>
              <a:spcAft>
                <a:spcPts val="0"/>
              </a:spcAft>
              <a:buClr>
                <a:srgbClr val="FFFFFF"/>
              </a:buClr>
              <a:buSzPts val="3550"/>
              <a:buFont typeface="Roboto Mono"/>
              <a:buNone/>
            </a:pPr>
            <a:r>
              <a:rPr b="0" i="0" lang="en-US" sz="3550" u="none" cap="none" strike="noStrike">
                <a:solidFill>
                  <a:srgbClr val="FFFFFF"/>
                </a:solidFill>
                <a:latin typeface="Roboto Mono"/>
                <a:ea typeface="Roboto Mono"/>
                <a:cs typeface="Roboto Mono"/>
                <a:sym typeface="Roboto Mono"/>
              </a:rPr>
              <a:t>Executive Summary</a:t>
            </a:r>
            <a:endParaRPr b="0" i="0" sz="3550" u="none" cap="none" strike="noStrike"/>
          </a:p>
        </p:txBody>
      </p:sp>
      <p:sp>
        <p:nvSpPr>
          <p:cNvPr id="92" name="Google Shape;92;p19"/>
          <p:cNvSpPr/>
          <p:nvPr/>
        </p:nvSpPr>
        <p:spPr>
          <a:xfrm>
            <a:off x="793790" y="1587341"/>
            <a:ext cx="6408000" cy="1866900"/>
          </a:xfrm>
          <a:prstGeom prst="roundRect">
            <a:avLst>
              <a:gd fmla="val 7837" name="adj"/>
            </a:avLst>
          </a:prstGeom>
          <a:solidFill>
            <a:srgbClr val="212121"/>
          </a:solidFill>
          <a:ln cap="flat" cmpd="sng" w="3047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9"/>
          <p:cNvSpPr/>
          <p:nvPr/>
        </p:nvSpPr>
        <p:spPr>
          <a:xfrm>
            <a:off x="763310" y="1587341"/>
            <a:ext cx="121920" cy="1866900"/>
          </a:xfrm>
          <a:prstGeom prst="roundRect">
            <a:avLst>
              <a:gd fmla="val 27907" name="adj"/>
            </a:avLst>
          </a:prstGeom>
          <a:solidFill>
            <a:srgbClr val="DCFF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9"/>
          <p:cNvSpPr/>
          <p:nvPr/>
        </p:nvSpPr>
        <p:spPr>
          <a:xfrm>
            <a:off x="1142525" y="1844625"/>
            <a:ext cx="4854900" cy="354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5E0DF"/>
              </a:buClr>
              <a:buSzPts val="2200"/>
              <a:buFont typeface="Roboto Mono"/>
              <a:buNone/>
            </a:pPr>
            <a:r>
              <a:rPr b="0" i="0" lang="en-US" sz="2200" u="none" cap="none" strike="noStrike">
                <a:solidFill>
                  <a:srgbClr val="E5E0DF"/>
                </a:solidFill>
                <a:latin typeface="Roboto Mono"/>
                <a:ea typeface="Roboto Mono"/>
                <a:cs typeface="Roboto Mono"/>
                <a:sym typeface="Roboto Mono"/>
              </a:rPr>
              <a:t>Internship Duration &amp; Role</a:t>
            </a:r>
            <a:endParaRPr b="0" i="0" sz="2200" u="none" cap="none" strike="noStrike"/>
          </a:p>
        </p:txBody>
      </p:sp>
      <p:sp>
        <p:nvSpPr>
          <p:cNvPr id="95" name="Google Shape;95;p19"/>
          <p:cNvSpPr/>
          <p:nvPr/>
        </p:nvSpPr>
        <p:spPr>
          <a:xfrm>
            <a:off x="1142524" y="2335054"/>
            <a:ext cx="5802000" cy="3630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5E0DF"/>
              </a:buClr>
              <a:buSzPts val="1750"/>
              <a:buFont typeface="Roboto"/>
              <a:buNone/>
            </a:pPr>
            <a:r>
              <a:rPr b="1" i="0" lang="en-US" sz="1750" u="none" cap="none" strike="noStrike">
                <a:solidFill>
                  <a:srgbClr val="E5E0DF"/>
                </a:solidFill>
                <a:latin typeface="Roboto"/>
                <a:ea typeface="Roboto"/>
                <a:cs typeface="Roboto"/>
                <a:sym typeface="Roboto"/>
              </a:rPr>
              <a:t>June 10, 2025 – September 22, 2025</a:t>
            </a:r>
            <a:endParaRPr b="0" i="0" sz="1750" u="none" cap="none" strike="noStrike"/>
          </a:p>
        </p:txBody>
      </p:sp>
      <p:sp>
        <p:nvSpPr>
          <p:cNvPr id="96" name="Google Shape;96;p19"/>
          <p:cNvSpPr/>
          <p:nvPr/>
        </p:nvSpPr>
        <p:spPr>
          <a:xfrm>
            <a:off x="1142524" y="2834045"/>
            <a:ext cx="5801916"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5E0DF"/>
              </a:buClr>
              <a:buSzPts val="1750"/>
              <a:buFont typeface="Roboto"/>
              <a:buNone/>
            </a:pPr>
            <a:r>
              <a:rPr lang="en-US" sz="1750">
                <a:solidFill>
                  <a:srgbClr val="E5E0DF"/>
                </a:solidFill>
                <a:latin typeface="Roboto"/>
                <a:ea typeface="Roboto"/>
                <a:cs typeface="Roboto"/>
                <a:sym typeface="Roboto"/>
              </a:rPr>
              <a:t>Back</a:t>
            </a:r>
            <a:r>
              <a:rPr b="0" i="0" lang="en-US" sz="1750" u="none" cap="none" strike="noStrike">
                <a:solidFill>
                  <a:srgbClr val="E5E0DF"/>
                </a:solidFill>
                <a:latin typeface="Roboto"/>
                <a:ea typeface="Roboto"/>
                <a:cs typeface="Roboto"/>
                <a:sym typeface="Roboto"/>
              </a:rPr>
              <a:t>-End Developer at AFRICOM PLC</a:t>
            </a:r>
            <a:endParaRPr b="0" i="0" sz="1750" u="none" cap="none" strike="noStrike"/>
          </a:p>
        </p:txBody>
      </p:sp>
      <p:sp>
        <p:nvSpPr>
          <p:cNvPr id="97" name="Google Shape;97;p19"/>
          <p:cNvSpPr/>
          <p:nvPr/>
        </p:nvSpPr>
        <p:spPr>
          <a:xfrm>
            <a:off x="7428548" y="1587341"/>
            <a:ext cx="6408063" cy="1866900"/>
          </a:xfrm>
          <a:prstGeom prst="roundRect">
            <a:avLst>
              <a:gd fmla="val 7837" name="adj"/>
            </a:avLst>
          </a:prstGeom>
          <a:solidFill>
            <a:srgbClr val="212121"/>
          </a:solidFill>
          <a:ln cap="flat" cmpd="sng" w="3047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9"/>
          <p:cNvSpPr/>
          <p:nvPr/>
        </p:nvSpPr>
        <p:spPr>
          <a:xfrm>
            <a:off x="7398067" y="1587341"/>
            <a:ext cx="121920" cy="1866900"/>
          </a:xfrm>
          <a:prstGeom prst="roundRect">
            <a:avLst>
              <a:gd fmla="val 27907" name="adj"/>
            </a:avLst>
          </a:prstGeom>
          <a:solidFill>
            <a:srgbClr val="DCFF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9"/>
          <p:cNvSpPr/>
          <p:nvPr/>
        </p:nvSpPr>
        <p:spPr>
          <a:xfrm>
            <a:off x="7777282" y="1844635"/>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5E0DF"/>
              </a:buClr>
              <a:buSzPts val="2200"/>
              <a:buFont typeface="Roboto Mono"/>
              <a:buNone/>
            </a:pPr>
            <a:r>
              <a:rPr b="0" i="0" lang="en-US" sz="2200" u="none" cap="none" strike="noStrike">
                <a:solidFill>
                  <a:srgbClr val="E5E0DF"/>
                </a:solidFill>
                <a:latin typeface="Roboto Mono"/>
                <a:ea typeface="Roboto Mono"/>
                <a:cs typeface="Roboto Mono"/>
                <a:sym typeface="Roboto Mono"/>
              </a:rPr>
              <a:t>Project Focus</a:t>
            </a:r>
            <a:endParaRPr b="0" i="0" sz="2200" u="none" cap="none" strike="noStrike"/>
          </a:p>
        </p:txBody>
      </p:sp>
      <p:sp>
        <p:nvSpPr>
          <p:cNvPr id="100" name="Google Shape;100;p19"/>
          <p:cNvSpPr/>
          <p:nvPr/>
        </p:nvSpPr>
        <p:spPr>
          <a:xfrm>
            <a:off x="7777282" y="2335054"/>
            <a:ext cx="5802035"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5E0DF"/>
              </a:buClr>
              <a:buSzPts val="1750"/>
              <a:buFont typeface="Roboto"/>
              <a:buNone/>
            </a:pPr>
            <a:r>
              <a:rPr b="0" i="0" lang="en-US" sz="1750" u="none" cap="none" strike="noStrike">
                <a:solidFill>
                  <a:srgbClr val="E5E0DF"/>
                </a:solidFill>
                <a:latin typeface="Roboto"/>
                <a:ea typeface="Roboto"/>
                <a:cs typeface="Roboto"/>
                <a:sym typeface="Roboto"/>
              </a:rPr>
              <a:t>Human Resource Management System (HRMS) with Multi-Tenancy Support.</a:t>
            </a:r>
            <a:endParaRPr b="0" i="0" sz="1750" u="none" cap="none" strike="noStrike"/>
          </a:p>
        </p:txBody>
      </p:sp>
      <p:sp>
        <p:nvSpPr>
          <p:cNvPr id="101" name="Google Shape;101;p19"/>
          <p:cNvSpPr/>
          <p:nvPr/>
        </p:nvSpPr>
        <p:spPr>
          <a:xfrm>
            <a:off x="793790" y="3681055"/>
            <a:ext cx="6407944" cy="3783211"/>
          </a:xfrm>
          <a:prstGeom prst="roundRect">
            <a:avLst>
              <a:gd fmla="val 3867" name="adj"/>
            </a:avLst>
          </a:prstGeom>
          <a:solidFill>
            <a:srgbClr val="212121"/>
          </a:solidFill>
          <a:ln cap="flat" cmpd="sng" w="3047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9"/>
          <p:cNvSpPr/>
          <p:nvPr/>
        </p:nvSpPr>
        <p:spPr>
          <a:xfrm>
            <a:off x="763310" y="3681055"/>
            <a:ext cx="121920" cy="3783211"/>
          </a:xfrm>
          <a:prstGeom prst="roundRect">
            <a:avLst>
              <a:gd fmla="val 27907" name="adj"/>
            </a:avLst>
          </a:prstGeom>
          <a:solidFill>
            <a:srgbClr val="DCFF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9"/>
          <p:cNvSpPr/>
          <p:nvPr/>
        </p:nvSpPr>
        <p:spPr>
          <a:xfrm>
            <a:off x="1142525" y="3938350"/>
            <a:ext cx="4047600" cy="354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5E0DF"/>
              </a:buClr>
              <a:buSzPts val="2200"/>
              <a:buFont typeface="Roboto Mono"/>
              <a:buNone/>
            </a:pPr>
            <a:r>
              <a:rPr b="0" i="0" lang="en-US" sz="2200" u="none" cap="none" strike="noStrike">
                <a:solidFill>
                  <a:srgbClr val="E5E0DF"/>
                </a:solidFill>
                <a:latin typeface="Roboto Mono"/>
                <a:ea typeface="Roboto Mono"/>
                <a:cs typeface="Roboto Mono"/>
                <a:sym typeface="Roboto Mono"/>
              </a:rPr>
              <a:t>Key Contributions</a:t>
            </a:r>
            <a:endParaRPr b="0" i="0" sz="2200" u="none" cap="none" strike="noStrike"/>
          </a:p>
        </p:txBody>
      </p:sp>
      <p:sp>
        <p:nvSpPr>
          <p:cNvPr id="104" name="Google Shape;104;p19"/>
          <p:cNvSpPr/>
          <p:nvPr/>
        </p:nvSpPr>
        <p:spPr>
          <a:xfrm>
            <a:off x="1142525" y="4791600"/>
            <a:ext cx="5802000" cy="363000"/>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E5E0DF"/>
              </a:buClr>
              <a:buSzPts val="1750"/>
              <a:buFont typeface="Roboto"/>
              <a:buChar char="•"/>
            </a:pPr>
            <a:r>
              <a:rPr lang="en-US" sz="1750">
                <a:solidFill>
                  <a:srgbClr val="E5E0DF"/>
                </a:solidFill>
                <a:latin typeface="Roboto"/>
                <a:ea typeface="Roboto"/>
                <a:cs typeface="Roboto"/>
                <a:sym typeface="Roboto"/>
              </a:rPr>
              <a:t>User Interface Development</a:t>
            </a:r>
            <a:endParaRPr b="0" i="0" sz="1750" u="none" cap="none" strike="noStrike"/>
          </a:p>
        </p:txBody>
      </p:sp>
      <p:sp>
        <p:nvSpPr>
          <p:cNvPr id="105" name="Google Shape;105;p19"/>
          <p:cNvSpPr/>
          <p:nvPr/>
        </p:nvSpPr>
        <p:spPr>
          <a:xfrm>
            <a:off x="1142525" y="5455250"/>
            <a:ext cx="5802000" cy="504300"/>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E5E0DF"/>
              </a:buClr>
              <a:buSzPts val="1750"/>
              <a:buFont typeface="Roboto"/>
              <a:buChar char="•"/>
            </a:pPr>
            <a:r>
              <a:rPr lang="en-US" sz="1750">
                <a:solidFill>
                  <a:srgbClr val="E5E0DF"/>
                </a:solidFill>
              </a:rPr>
              <a:t>Multi-Tenant HRMS Support</a:t>
            </a:r>
            <a:endParaRPr b="0" i="0" sz="1750" u="none" cap="none" strike="noStrike">
              <a:solidFill>
                <a:srgbClr val="E5E0DF"/>
              </a:solidFill>
            </a:endParaRPr>
          </a:p>
        </p:txBody>
      </p:sp>
      <p:sp>
        <p:nvSpPr>
          <p:cNvPr id="106" name="Google Shape;106;p19"/>
          <p:cNvSpPr/>
          <p:nvPr/>
        </p:nvSpPr>
        <p:spPr>
          <a:xfrm>
            <a:off x="1142525" y="6077050"/>
            <a:ext cx="5802000" cy="687900"/>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E5E0DF"/>
              </a:buClr>
              <a:buSzPts val="1750"/>
              <a:buFont typeface="Roboto"/>
              <a:buChar char="•"/>
            </a:pPr>
            <a:r>
              <a:rPr lang="en-US" sz="1750">
                <a:solidFill>
                  <a:srgbClr val="E5E0DF"/>
                </a:solidFill>
                <a:latin typeface="Roboto"/>
                <a:ea typeface="Roboto"/>
                <a:cs typeface="Roboto"/>
                <a:sym typeface="Roboto"/>
              </a:rPr>
              <a:t>Documentation and Knowledge Sharing</a:t>
            </a:r>
            <a:endParaRPr b="0" i="0" sz="1750" u="none" cap="none" strike="noStrike"/>
          </a:p>
        </p:txBody>
      </p:sp>
      <p:sp>
        <p:nvSpPr>
          <p:cNvPr id="107" name="Google Shape;107;p19"/>
          <p:cNvSpPr/>
          <p:nvPr/>
        </p:nvSpPr>
        <p:spPr>
          <a:xfrm>
            <a:off x="1142525" y="6702676"/>
            <a:ext cx="5802000" cy="504300"/>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E5E0DF"/>
              </a:buClr>
              <a:buSzPts val="1750"/>
              <a:buFont typeface="Roboto"/>
              <a:buChar char="•"/>
            </a:pPr>
            <a:r>
              <a:rPr lang="en-US" sz="1750">
                <a:solidFill>
                  <a:srgbClr val="E5E0DF"/>
                </a:solidFill>
                <a:latin typeface="Roboto"/>
                <a:ea typeface="Roboto"/>
                <a:cs typeface="Roboto"/>
                <a:sym typeface="Roboto"/>
              </a:rPr>
              <a:t>Authentication and Authorization</a:t>
            </a:r>
            <a:endParaRPr b="0" i="0" sz="1750" u="none" cap="none" strike="noStrike"/>
          </a:p>
        </p:txBody>
      </p:sp>
      <p:sp>
        <p:nvSpPr>
          <p:cNvPr id="108" name="Google Shape;108;p19"/>
          <p:cNvSpPr/>
          <p:nvPr/>
        </p:nvSpPr>
        <p:spPr>
          <a:xfrm>
            <a:off x="7474275" y="3454250"/>
            <a:ext cx="6408000" cy="4010100"/>
          </a:xfrm>
          <a:prstGeom prst="roundRect">
            <a:avLst>
              <a:gd fmla="val 3867" name="adj"/>
            </a:avLst>
          </a:prstGeom>
          <a:solidFill>
            <a:srgbClr val="212121"/>
          </a:solidFill>
          <a:ln cap="flat" cmpd="sng" w="3047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9"/>
          <p:cNvSpPr/>
          <p:nvPr/>
        </p:nvSpPr>
        <p:spPr>
          <a:xfrm>
            <a:off x="7398067" y="3681055"/>
            <a:ext cx="121920" cy="3783211"/>
          </a:xfrm>
          <a:prstGeom prst="roundRect">
            <a:avLst>
              <a:gd fmla="val 27907" name="adj"/>
            </a:avLst>
          </a:prstGeom>
          <a:solidFill>
            <a:srgbClr val="DCFF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9"/>
          <p:cNvSpPr/>
          <p:nvPr/>
        </p:nvSpPr>
        <p:spPr>
          <a:xfrm>
            <a:off x="7716324" y="4023725"/>
            <a:ext cx="5092500" cy="354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5E0DF"/>
              </a:buClr>
              <a:buSzPts val="2200"/>
              <a:buFont typeface="Roboto Mono"/>
              <a:buNone/>
            </a:pPr>
            <a:r>
              <a:rPr b="0" i="0" lang="en-US" sz="2200" u="none" cap="none" strike="noStrike">
                <a:solidFill>
                  <a:srgbClr val="E5E0DF"/>
                </a:solidFill>
                <a:latin typeface="Roboto Mono"/>
                <a:ea typeface="Roboto Mono"/>
                <a:cs typeface="Roboto Mono"/>
                <a:sym typeface="Roboto Mono"/>
              </a:rPr>
              <a:t>Skills Gained &amp; Challenges</a:t>
            </a:r>
            <a:endParaRPr b="0" i="0" sz="2200" u="none" cap="none" strike="noStrike"/>
          </a:p>
        </p:txBody>
      </p:sp>
      <p:sp>
        <p:nvSpPr>
          <p:cNvPr id="111" name="Google Shape;111;p19"/>
          <p:cNvSpPr/>
          <p:nvPr/>
        </p:nvSpPr>
        <p:spPr>
          <a:xfrm>
            <a:off x="7777300" y="4574575"/>
            <a:ext cx="5802000" cy="2190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1750">
                <a:solidFill>
                  <a:srgbClr val="E5E0DF"/>
                </a:solidFill>
              </a:rPr>
              <a:t>Gained practical experience in backend development, API design, database management, authentication, Git collaboration, and problem-solving.</a:t>
            </a:r>
            <a:endParaRPr sz="1750">
              <a:solidFill>
                <a:srgbClr val="E5E0DF"/>
              </a:solidFill>
            </a:endParaRPr>
          </a:p>
          <a:p>
            <a:pPr indent="0" lvl="0" marL="0" rtl="0" algn="l">
              <a:spcBef>
                <a:spcPts val="0"/>
              </a:spcBef>
              <a:spcAft>
                <a:spcPts val="0"/>
              </a:spcAft>
              <a:buNone/>
            </a:pPr>
            <a:r>
              <a:t/>
            </a:r>
            <a:endParaRPr sz="1750">
              <a:solidFill>
                <a:srgbClr val="E5E0DF"/>
              </a:solidFill>
            </a:endParaRPr>
          </a:p>
          <a:p>
            <a:pPr indent="0" lvl="0" marL="0" rtl="0" algn="l">
              <a:spcBef>
                <a:spcPts val="0"/>
              </a:spcBef>
              <a:spcAft>
                <a:spcPts val="0"/>
              </a:spcAft>
              <a:buClr>
                <a:schemeClr val="dk1"/>
              </a:buClr>
              <a:buSzPts val="1750"/>
              <a:buFont typeface="Arial"/>
              <a:buNone/>
            </a:pPr>
            <a:r>
              <a:rPr lang="en-US" sz="1750">
                <a:solidFill>
                  <a:srgbClr val="E5E0DF"/>
                </a:solidFill>
              </a:rPr>
              <a:t>Faced Git merge conflicts while collaborating in a multi-developer environment, which required careful coordination.</a:t>
            </a:r>
            <a:br>
              <a:rPr lang="en-US" sz="1750">
                <a:solidFill>
                  <a:srgbClr val="E5E0DF"/>
                </a:solidFill>
              </a:rPr>
            </a:br>
            <a:endParaRPr sz="1750">
              <a:solidFill>
                <a:srgbClr val="E5E0DF"/>
              </a:solidFill>
            </a:endParaRPr>
          </a:p>
          <a:p>
            <a:pPr indent="0" lvl="0" marL="0" rtl="0" algn="l">
              <a:spcBef>
                <a:spcPts val="0"/>
              </a:spcBef>
              <a:spcAft>
                <a:spcPts val="0"/>
              </a:spcAft>
              <a:buClr>
                <a:schemeClr val="dk1"/>
              </a:buClr>
              <a:buSzPts val="1750"/>
              <a:buFont typeface="Arial"/>
              <a:buNone/>
            </a:pPr>
            <a:r>
              <a:rPr lang="en-US" sz="1750">
                <a:solidFill>
                  <a:srgbClr val="E5E0DF"/>
                </a:solidFill>
              </a:rPr>
              <a:t>Weekly updates were not limited to planned tasks, demanding flexibility and strong time management.</a:t>
            </a:r>
            <a:endParaRPr sz="1750">
              <a:solidFill>
                <a:srgbClr val="E5E0DF"/>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0"/>
          <p:cNvSpPr/>
          <p:nvPr/>
        </p:nvSpPr>
        <p:spPr>
          <a:xfrm>
            <a:off x="575575" y="1233000"/>
            <a:ext cx="4804200" cy="411000"/>
          </a:xfrm>
          <a:prstGeom prst="rect">
            <a:avLst/>
          </a:prstGeom>
          <a:noFill/>
          <a:ln>
            <a:noFill/>
          </a:ln>
        </p:spPr>
        <p:txBody>
          <a:bodyPr anchorCtr="0" anchor="t" bIns="0" lIns="0" spcFirstLastPara="1" rIns="0" wrap="square" tIns="0">
            <a:noAutofit/>
          </a:bodyPr>
          <a:lstStyle/>
          <a:p>
            <a:pPr indent="0" lvl="0" marL="0" marR="0" rtl="0" algn="l">
              <a:lnSpc>
                <a:spcPct val="125490"/>
              </a:lnSpc>
              <a:spcBef>
                <a:spcPts val="0"/>
              </a:spcBef>
              <a:spcAft>
                <a:spcPts val="0"/>
              </a:spcAft>
              <a:buClr>
                <a:srgbClr val="FFFFFF"/>
              </a:buClr>
              <a:buSzPts val="2550"/>
              <a:buFont typeface="Roboto Mono"/>
              <a:buNone/>
            </a:pPr>
            <a:r>
              <a:rPr b="0" i="0" lang="en-US" sz="2550" u="none" cap="none" strike="noStrike">
                <a:solidFill>
                  <a:srgbClr val="FFFFFF"/>
                </a:solidFill>
                <a:latin typeface="Roboto Mono"/>
                <a:ea typeface="Roboto Mono"/>
                <a:cs typeface="Roboto Mono"/>
                <a:sym typeface="Roboto Mono"/>
              </a:rPr>
              <a:t>About AFRICOM PLC</a:t>
            </a:r>
            <a:endParaRPr b="0" i="0" sz="2550" u="none" cap="none" strike="noStrike"/>
          </a:p>
        </p:txBody>
      </p:sp>
      <p:sp>
        <p:nvSpPr>
          <p:cNvPr id="118" name="Google Shape;118;p20"/>
          <p:cNvSpPr/>
          <p:nvPr/>
        </p:nvSpPr>
        <p:spPr>
          <a:xfrm>
            <a:off x="575585" y="2254677"/>
            <a:ext cx="6539100" cy="789000"/>
          </a:xfrm>
          <a:prstGeom prst="rect">
            <a:avLst/>
          </a:prstGeom>
          <a:noFill/>
          <a:ln>
            <a:noFill/>
          </a:ln>
        </p:spPr>
        <p:txBody>
          <a:bodyPr anchorCtr="0" anchor="t" bIns="0" lIns="0" spcFirstLastPara="1" rIns="0" wrap="square" tIns="0">
            <a:noAutofit/>
          </a:bodyPr>
          <a:lstStyle/>
          <a:p>
            <a:pPr indent="0" lvl="0" marL="0" marR="0" rtl="0" algn="l">
              <a:lnSpc>
                <a:spcPct val="164000"/>
              </a:lnSpc>
              <a:spcBef>
                <a:spcPts val="0"/>
              </a:spcBef>
              <a:spcAft>
                <a:spcPts val="0"/>
              </a:spcAft>
              <a:buClr>
                <a:srgbClr val="E5E0DF"/>
              </a:buClr>
              <a:buSzPts val="1250"/>
              <a:buFont typeface="Roboto"/>
              <a:buNone/>
            </a:pPr>
            <a:r>
              <a:rPr b="1" i="0" lang="en-US" sz="1250" u="none" cap="none" strike="noStrike">
                <a:solidFill>
                  <a:srgbClr val="E5E0DF"/>
                </a:solidFill>
                <a:latin typeface="Roboto"/>
                <a:ea typeface="Roboto"/>
                <a:cs typeface="Roboto"/>
                <a:sym typeface="Roboto"/>
              </a:rPr>
              <a:t>Overview:</a:t>
            </a:r>
            <a:r>
              <a:rPr b="0" i="0" lang="en-US" sz="1250" u="none" cap="none" strike="noStrike">
                <a:solidFill>
                  <a:srgbClr val="E5E0DF"/>
                </a:solidFill>
                <a:latin typeface="Roboto"/>
                <a:ea typeface="Roboto"/>
                <a:cs typeface="Roboto"/>
                <a:sym typeface="Roboto"/>
              </a:rPr>
              <a:t> Established in 2004, AFRICOM PLC is an ISO-certified IT solution provider based in Ethiopia, renowned for delivering innovative, secure, and high-quality IT solutions across the region.</a:t>
            </a:r>
            <a:endParaRPr b="0" i="0" sz="1250" u="none" cap="none" strike="noStrike"/>
          </a:p>
        </p:txBody>
      </p:sp>
      <p:sp>
        <p:nvSpPr>
          <p:cNvPr id="119" name="Google Shape;119;p20"/>
          <p:cNvSpPr/>
          <p:nvPr/>
        </p:nvSpPr>
        <p:spPr>
          <a:xfrm>
            <a:off x="575573" y="3317924"/>
            <a:ext cx="6539100" cy="525900"/>
          </a:xfrm>
          <a:prstGeom prst="rect">
            <a:avLst/>
          </a:prstGeom>
          <a:noFill/>
          <a:ln>
            <a:noFill/>
          </a:ln>
        </p:spPr>
        <p:txBody>
          <a:bodyPr anchorCtr="0" anchor="t" bIns="0" lIns="0" spcFirstLastPara="1" rIns="0" wrap="square" tIns="0">
            <a:noAutofit/>
          </a:bodyPr>
          <a:lstStyle/>
          <a:p>
            <a:pPr indent="0" lvl="0" marL="0" marR="0" rtl="0" algn="l">
              <a:lnSpc>
                <a:spcPct val="164000"/>
              </a:lnSpc>
              <a:spcBef>
                <a:spcPts val="0"/>
              </a:spcBef>
              <a:spcAft>
                <a:spcPts val="0"/>
              </a:spcAft>
              <a:buClr>
                <a:srgbClr val="E5E0DF"/>
              </a:buClr>
              <a:buSzPts val="1250"/>
              <a:buFont typeface="Roboto"/>
              <a:buNone/>
            </a:pPr>
            <a:r>
              <a:rPr b="1" i="0" lang="en-US" sz="1250" u="none" cap="none" strike="noStrike">
                <a:solidFill>
                  <a:srgbClr val="E5E0DF"/>
                </a:solidFill>
                <a:latin typeface="Roboto"/>
                <a:ea typeface="Roboto"/>
                <a:cs typeface="Roboto"/>
                <a:sym typeface="Roboto"/>
              </a:rPr>
              <a:t>Mission:</a:t>
            </a:r>
            <a:r>
              <a:rPr b="0" i="0" lang="en-US" sz="1250" u="none" cap="none" strike="noStrike">
                <a:solidFill>
                  <a:srgbClr val="E5E0DF"/>
                </a:solidFill>
                <a:latin typeface="Roboto"/>
                <a:ea typeface="Roboto"/>
                <a:cs typeface="Roboto"/>
                <a:sym typeface="Roboto"/>
              </a:rPr>
              <a:t> Our core mission is to empower organizations by delivering reliable IT services, fostering digital transformation throughout Ethiopia and the wider African continent.</a:t>
            </a:r>
            <a:endParaRPr b="0" i="0" sz="1250" u="none" cap="none" strike="noStrike"/>
          </a:p>
        </p:txBody>
      </p:sp>
      <p:pic>
        <p:nvPicPr>
          <p:cNvPr descr="preencoded.png" id="120" name="Google Shape;120;p20"/>
          <p:cNvPicPr preferRelativeResize="0"/>
          <p:nvPr/>
        </p:nvPicPr>
        <p:blipFill rotWithShape="1">
          <a:blip r:embed="rId3">
            <a:alphaModFix/>
          </a:blip>
          <a:srcRect b="0" l="0" r="0" t="0"/>
          <a:stretch/>
        </p:blipFill>
        <p:spPr>
          <a:xfrm>
            <a:off x="8196875" y="2254675"/>
            <a:ext cx="5693549" cy="4338699"/>
          </a:xfrm>
          <a:prstGeom prst="rect">
            <a:avLst/>
          </a:prstGeom>
          <a:noFill/>
          <a:ln cap="flat" cmpd="sng" w="9525">
            <a:solidFill>
              <a:schemeClr val="dk1"/>
            </a:solidFill>
            <a:prstDash val="solid"/>
            <a:round/>
            <a:headEnd len="sm" w="sm" type="none"/>
            <a:tailEnd len="sm" w="sm" type="none"/>
          </a:ln>
        </p:spPr>
      </p:pic>
      <p:sp>
        <p:nvSpPr>
          <p:cNvPr id="121" name="Google Shape;121;p20"/>
          <p:cNvSpPr/>
          <p:nvPr/>
        </p:nvSpPr>
        <p:spPr>
          <a:xfrm>
            <a:off x="7523440" y="5025390"/>
            <a:ext cx="6539032" cy="263009"/>
          </a:xfrm>
          <a:prstGeom prst="rect">
            <a:avLst/>
          </a:prstGeom>
          <a:noFill/>
          <a:ln>
            <a:noFill/>
          </a:ln>
        </p:spPr>
        <p:txBody>
          <a:bodyPr anchorCtr="0" anchor="t" bIns="0" lIns="0" spcFirstLastPara="1" rIns="0" wrap="square" tIns="0">
            <a:noAutofit/>
          </a:bodyPr>
          <a:lstStyle/>
          <a:p>
            <a:pPr indent="0" lvl="0" marL="0" marR="0" rtl="0" algn="l">
              <a:lnSpc>
                <a:spcPct val="164000"/>
              </a:lnSpc>
              <a:spcBef>
                <a:spcPts val="0"/>
              </a:spcBef>
              <a:spcAft>
                <a:spcPts val="0"/>
              </a:spcAft>
              <a:buSzPts val="1250"/>
              <a:buFont typeface="Arial"/>
              <a:buNone/>
            </a:pPr>
            <a:r>
              <a:t/>
            </a:r>
            <a:endParaRPr b="0" i="0" sz="1250" u="none" cap="none" strike="noStrike"/>
          </a:p>
        </p:txBody>
      </p:sp>
      <p:sp>
        <p:nvSpPr>
          <p:cNvPr id="122" name="Google Shape;122;p20"/>
          <p:cNvSpPr/>
          <p:nvPr/>
        </p:nvSpPr>
        <p:spPr>
          <a:xfrm>
            <a:off x="575575" y="4220500"/>
            <a:ext cx="6539100" cy="2475300"/>
          </a:xfrm>
          <a:prstGeom prst="roundRect">
            <a:avLst>
              <a:gd fmla="val 1106" name="adj"/>
            </a:avLst>
          </a:prstGeom>
          <a:solidFill>
            <a:srgbClr val="4040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20"/>
          <p:cNvSpPr/>
          <p:nvPr/>
        </p:nvSpPr>
        <p:spPr>
          <a:xfrm>
            <a:off x="739976" y="4334450"/>
            <a:ext cx="3854400" cy="2568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5E0DF"/>
              </a:buClr>
              <a:buSzPts val="1600"/>
              <a:buFont typeface="Roboto Mono"/>
              <a:buNone/>
            </a:pPr>
            <a:r>
              <a:rPr b="0" i="0" lang="en-US" sz="1600" u="none" cap="none" strike="noStrike">
                <a:solidFill>
                  <a:srgbClr val="E5E0DF"/>
                </a:solidFill>
                <a:latin typeface="Roboto Mono"/>
                <a:ea typeface="Roboto Mono"/>
                <a:cs typeface="Roboto Mono"/>
                <a:sym typeface="Roboto Mono"/>
              </a:rPr>
              <a:t>Products &amp; Services</a:t>
            </a:r>
            <a:endParaRPr b="0" i="0" sz="1600" u="none" cap="none" strike="noStrike"/>
          </a:p>
        </p:txBody>
      </p:sp>
      <p:sp>
        <p:nvSpPr>
          <p:cNvPr id="124" name="Google Shape;124;p20"/>
          <p:cNvSpPr/>
          <p:nvPr/>
        </p:nvSpPr>
        <p:spPr>
          <a:xfrm>
            <a:off x="739974" y="4941050"/>
            <a:ext cx="5561700" cy="263100"/>
          </a:xfrm>
          <a:prstGeom prst="rect">
            <a:avLst/>
          </a:prstGeom>
          <a:noFill/>
          <a:ln>
            <a:noFill/>
          </a:ln>
        </p:spPr>
        <p:txBody>
          <a:bodyPr anchorCtr="0" anchor="t" bIns="0" lIns="0" spcFirstLastPara="1" rIns="0" wrap="square" tIns="0">
            <a:noAutofit/>
          </a:bodyPr>
          <a:lstStyle/>
          <a:p>
            <a:pPr indent="-342900" lvl="0" marL="342900" marR="0" rtl="0" algn="l">
              <a:lnSpc>
                <a:spcPct val="164000"/>
              </a:lnSpc>
              <a:spcBef>
                <a:spcPts val="0"/>
              </a:spcBef>
              <a:spcAft>
                <a:spcPts val="0"/>
              </a:spcAft>
              <a:buClr>
                <a:srgbClr val="E5E0DF"/>
              </a:buClr>
              <a:buSzPts val="1250"/>
              <a:buFont typeface="Roboto"/>
              <a:buChar char="•"/>
            </a:pPr>
            <a:r>
              <a:rPr b="0" i="0" lang="en-US" sz="1250" u="none" cap="none" strike="noStrike">
                <a:solidFill>
                  <a:srgbClr val="E5E0DF"/>
                </a:solidFill>
                <a:latin typeface="Roboto"/>
                <a:ea typeface="Roboto"/>
                <a:cs typeface="Roboto"/>
                <a:sym typeface="Roboto"/>
              </a:rPr>
              <a:t>Software Development (MIS, ERP, HRMS)</a:t>
            </a:r>
            <a:endParaRPr b="0" i="0" sz="1250" u="none" cap="none" strike="noStrike"/>
          </a:p>
        </p:txBody>
      </p:sp>
      <p:sp>
        <p:nvSpPr>
          <p:cNvPr id="125" name="Google Shape;125;p20"/>
          <p:cNvSpPr/>
          <p:nvPr/>
        </p:nvSpPr>
        <p:spPr>
          <a:xfrm>
            <a:off x="739974" y="5247550"/>
            <a:ext cx="3854400" cy="263100"/>
          </a:xfrm>
          <a:prstGeom prst="rect">
            <a:avLst/>
          </a:prstGeom>
          <a:noFill/>
          <a:ln>
            <a:noFill/>
          </a:ln>
        </p:spPr>
        <p:txBody>
          <a:bodyPr anchorCtr="0" anchor="t" bIns="0" lIns="0" spcFirstLastPara="1" rIns="0" wrap="square" tIns="0">
            <a:noAutofit/>
          </a:bodyPr>
          <a:lstStyle/>
          <a:p>
            <a:pPr indent="-342900" lvl="0" marL="342900" marR="0" rtl="0" algn="l">
              <a:lnSpc>
                <a:spcPct val="164000"/>
              </a:lnSpc>
              <a:spcBef>
                <a:spcPts val="0"/>
              </a:spcBef>
              <a:spcAft>
                <a:spcPts val="0"/>
              </a:spcAft>
              <a:buClr>
                <a:srgbClr val="E5E0DF"/>
              </a:buClr>
              <a:buSzPts val="1250"/>
              <a:buFont typeface="Roboto"/>
              <a:buChar char="•"/>
            </a:pPr>
            <a:r>
              <a:rPr b="0" i="0" lang="en-US" sz="1250" u="none" cap="none" strike="noStrike">
                <a:solidFill>
                  <a:srgbClr val="E5E0DF"/>
                </a:solidFill>
                <a:latin typeface="Roboto"/>
                <a:ea typeface="Roboto"/>
                <a:cs typeface="Roboto"/>
                <a:sym typeface="Roboto"/>
              </a:rPr>
              <a:t>Business Process Outsourcing (BPO)</a:t>
            </a:r>
            <a:endParaRPr b="0" i="0" sz="1250" u="none" cap="none" strike="noStrike"/>
          </a:p>
        </p:txBody>
      </p:sp>
      <p:sp>
        <p:nvSpPr>
          <p:cNvPr id="126" name="Google Shape;126;p20"/>
          <p:cNvSpPr/>
          <p:nvPr/>
        </p:nvSpPr>
        <p:spPr>
          <a:xfrm>
            <a:off x="739974" y="5553950"/>
            <a:ext cx="5191800" cy="263100"/>
          </a:xfrm>
          <a:prstGeom prst="rect">
            <a:avLst/>
          </a:prstGeom>
          <a:noFill/>
          <a:ln>
            <a:noFill/>
          </a:ln>
        </p:spPr>
        <p:txBody>
          <a:bodyPr anchorCtr="0" anchor="t" bIns="0" lIns="0" spcFirstLastPara="1" rIns="0" wrap="square" tIns="0">
            <a:noAutofit/>
          </a:bodyPr>
          <a:lstStyle/>
          <a:p>
            <a:pPr indent="-342900" lvl="0" marL="342900" marR="0" rtl="0" algn="l">
              <a:lnSpc>
                <a:spcPct val="164000"/>
              </a:lnSpc>
              <a:spcBef>
                <a:spcPts val="0"/>
              </a:spcBef>
              <a:spcAft>
                <a:spcPts val="0"/>
              </a:spcAft>
              <a:buClr>
                <a:srgbClr val="E5E0DF"/>
              </a:buClr>
              <a:buSzPts val="1250"/>
              <a:buFont typeface="Roboto"/>
              <a:buChar char="•"/>
            </a:pPr>
            <a:r>
              <a:rPr b="0" i="0" lang="en-US" sz="1250" u="none" cap="none" strike="noStrike">
                <a:solidFill>
                  <a:srgbClr val="E5E0DF"/>
                </a:solidFill>
                <a:latin typeface="Roboto"/>
                <a:ea typeface="Roboto"/>
                <a:cs typeface="Roboto"/>
                <a:sym typeface="Roboto"/>
              </a:rPr>
              <a:t>IT Auditing</a:t>
            </a:r>
            <a:endParaRPr b="0" i="0" sz="1250" u="none" cap="none" strike="noStrike"/>
          </a:p>
        </p:txBody>
      </p:sp>
      <p:sp>
        <p:nvSpPr>
          <p:cNvPr id="127" name="Google Shape;127;p20"/>
          <p:cNvSpPr/>
          <p:nvPr/>
        </p:nvSpPr>
        <p:spPr>
          <a:xfrm>
            <a:off x="739975" y="5860400"/>
            <a:ext cx="3690000" cy="263100"/>
          </a:xfrm>
          <a:prstGeom prst="rect">
            <a:avLst/>
          </a:prstGeom>
          <a:noFill/>
          <a:ln>
            <a:noFill/>
          </a:ln>
        </p:spPr>
        <p:txBody>
          <a:bodyPr anchorCtr="0" anchor="t" bIns="0" lIns="0" spcFirstLastPara="1" rIns="0" wrap="square" tIns="0">
            <a:noAutofit/>
          </a:bodyPr>
          <a:lstStyle/>
          <a:p>
            <a:pPr indent="-342900" lvl="0" marL="342900" marR="0" rtl="0" algn="l">
              <a:lnSpc>
                <a:spcPct val="164000"/>
              </a:lnSpc>
              <a:spcBef>
                <a:spcPts val="0"/>
              </a:spcBef>
              <a:spcAft>
                <a:spcPts val="0"/>
              </a:spcAft>
              <a:buClr>
                <a:srgbClr val="E5E0DF"/>
              </a:buClr>
              <a:buSzPts val="1250"/>
              <a:buFont typeface="Roboto"/>
              <a:buChar char="•"/>
            </a:pPr>
            <a:r>
              <a:rPr b="0" i="0" lang="en-US" sz="1250" u="none" cap="none" strike="noStrike">
                <a:solidFill>
                  <a:srgbClr val="E5E0DF"/>
                </a:solidFill>
                <a:latin typeface="Roboto"/>
                <a:ea typeface="Roboto"/>
                <a:cs typeface="Roboto"/>
                <a:sym typeface="Roboto"/>
              </a:rPr>
              <a:t>E-commerce Solutions</a:t>
            </a:r>
            <a:endParaRPr b="0" i="0" sz="1250" u="none" cap="none" strike="noStrike"/>
          </a:p>
        </p:txBody>
      </p:sp>
      <p:sp>
        <p:nvSpPr>
          <p:cNvPr id="128" name="Google Shape;128;p20"/>
          <p:cNvSpPr/>
          <p:nvPr/>
        </p:nvSpPr>
        <p:spPr>
          <a:xfrm>
            <a:off x="739974" y="6166850"/>
            <a:ext cx="3854400" cy="263100"/>
          </a:xfrm>
          <a:prstGeom prst="rect">
            <a:avLst/>
          </a:prstGeom>
          <a:noFill/>
          <a:ln>
            <a:noFill/>
          </a:ln>
        </p:spPr>
        <p:txBody>
          <a:bodyPr anchorCtr="0" anchor="t" bIns="0" lIns="0" spcFirstLastPara="1" rIns="0" wrap="square" tIns="0">
            <a:noAutofit/>
          </a:bodyPr>
          <a:lstStyle/>
          <a:p>
            <a:pPr indent="-342900" lvl="0" marL="342900" marR="0" rtl="0" algn="l">
              <a:lnSpc>
                <a:spcPct val="164000"/>
              </a:lnSpc>
              <a:spcBef>
                <a:spcPts val="0"/>
              </a:spcBef>
              <a:spcAft>
                <a:spcPts val="0"/>
              </a:spcAft>
              <a:buClr>
                <a:srgbClr val="E5E0DF"/>
              </a:buClr>
              <a:buSzPts val="1250"/>
              <a:buFont typeface="Roboto"/>
              <a:buChar char="•"/>
            </a:pPr>
            <a:r>
              <a:rPr b="0" i="0" lang="en-US" sz="1250" u="none" cap="none" strike="noStrike">
                <a:solidFill>
                  <a:srgbClr val="E5E0DF"/>
                </a:solidFill>
                <a:latin typeface="Roboto"/>
                <a:ea typeface="Roboto"/>
                <a:cs typeface="Roboto"/>
                <a:sym typeface="Roboto"/>
              </a:rPr>
              <a:t>Single Window Projects</a:t>
            </a:r>
            <a:endParaRPr b="0" i="0" sz="1250" u="none" cap="none" strike="noStrike"/>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pic>
        <p:nvPicPr>
          <p:cNvPr descr="preencoded.png" id="134" name="Google Shape;134;p21"/>
          <p:cNvPicPr preferRelativeResize="0"/>
          <p:nvPr/>
        </p:nvPicPr>
        <p:blipFill rotWithShape="1">
          <a:blip r:embed="rId3">
            <a:alphaModFix/>
          </a:blip>
          <a:srcRect b="0" l="0" r="0" t="0"/>
          <a:stretch/>
        </p:blipFill>
        <p:spPr>
          <a:xfrm>
            <a:off x="0" y="0"/>
            <a:ext cx="5486400" cy="8229600"/>
          </a:xfrm>
          <a:prstGeom prst="rect">
            <a:avLst/>
          </a:prstGeom>
          <a:noFill/>
          <a:ln>
            <a:noFill/>
          </a:ln>
        </p:spPr>
      </p:pic>
      <p:sp>
        <p:nvSpPr>
          <p:cNvPr id="135" name="Google Shape;135;p21"/>
          <p:cNvSpPr/>
          <p:nvPr/>
        </p:nvSpPr>
        <p:spPr>
          <a:xfrm>
            <a:off x="6280200" y="1097100"/>
            <a:ext cx="6509700" cy="819000"/>
          </a:xfrm>
          <a:prstGeom prst="rect">
            <a:avLst/>
          </a:prstGeom>
          <a:noFill/>
          <a:ln>
            <a:noFill/>
          </a:ln>
        </p:spPr>
        <p:txBody>
          <a:bodyPr anchorCtr="0" anchor="t" bIns="0" lIns="0" spcFirstLastPara="1" rIns="0" wrap="square" tIns="0">
            <a:noAutofit/>
          </a:bodyPr>
          <a:lstStyle/>
          <a:p>
            <a:pPr indent="0" lvl="0" marL="0" marR="0" rtl="0" algn="l">
              <a:lnSpc>
                <a:spcPct val="125352"/>
              </a:lnSpc>
              <a:spcBef>
                <a:spcPts val="0"/>
              </a:spcBef>
              <a:spcAft>
                <a:spcPts val="0"/>
              </a:spcAft>
              <a:buClr>
                <a:srgbClr val="FFFFFF"/>
              </a:buClr>
              <a:buSzPts val="3550"/>
              <a:buFont typeface="Roboto Mono"/>
              <a:buNone/>
            </a:pPr>
            <a:r>
              <a:rPr b="0" i="0" lang="en-US" sz="3550" u="none" cap="none" strike="noStrike">
                <a:solidFill>
                  <a:srgbClr val="FFFFFF"/>
                </a:solidFill>
                <a:latin typeface="Roboto Mono"/>
                <a:ea typeface="Roboto Mono"/>
                <a:cs typeface="Roboto Mono"/>
                <a:sym typeface="Roboto Mono"/>
              </a:rPr>
              <a:t>Internship Objectives</a:t>
            </a:r>
            <a:endParaRPr b="0" i="0" sz="3550" u="none" cap="none" strike="noStrike"/>
          </a:p>
        </p:txBody>
      </p:sp>
      <p:sp>
        <p:nvSpPr>
          <p:cNvPr id="136" name="Google Shape;136;p21"/>
          <p:cNvSpPr/>
          <p:nvPr/>
        </p:nvSpPr>
        <p:spPr>
          <a:xfrm>
            <a:off x="6280200" y="2136594"/>
            <a:ext cx="7556400" cy="239400"/>
          </a:xfrm>
          <a:prstGeom prst="roundRect">
            <a:avLst>
              <a:gd fmla="val 27907" name="adj"/>
            </a:avLst>
          </a:prstGeom>
          <a:solidFill>
            <a:srgbClr val="DCFF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21"/>
          <p:cNvSpPr/>
          <p:nvPr/>
        </p:nvSpPr>
        <p:spPr>
          <a:xfrm>
            <a:off x="9718229" y="1916103"/>
            <a:ext cx="680400" cy="680400"/>
          </a:xfrm>
          <a:prstGeom prst="roundRect">
            <a:avLst>
              <a:gd fmla="val 49930" name="adj"/>
            </a:avLst>
          </a:prstGeom>
          <a:solidFill>
            <a:srgbClr val="DCFF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8" name="Google Shape;138;p21"/>
          <p:cNvPicPr preferRelativeResize="0"/>
          <p:nvPr/>
        </p:nvPicPr>
        <p:blipFill rotWithShape="1">
          <a:blip r:embed="rId4">
            <a:alphaModFix/>
          </a:blip>
          <a:srcRect b="0" l="0" r="0" t="0"/>
          <a:stretch/>
        </p:blipFill>
        <p:spPr>
          <a:xfrm>
            <a:off x="9922327" y="2086217"/>
            <a:ext cx="272177" cy="340162"/>
          </a:xfrm>
          <a:prstGeom prst="rect">
            <a:avLst/>
          </a:prstGeom>
          <a:noFill/>
          <a:ln>
            <a:noFill/>
          </a:ln>
        </p:spPr>
      </p:pic>
      <p:sp>
        <p:nvSpPr>
          <p:cNvPr id="139" name="Google Shape;139;p21"/>
          <p:cNvSpPr/>
          <p:nvPr/>
        </p:nvSpPr>
        <p:spPr>
          <a:xfrm>
            <a:off x="6280196" y="2993225"/>
            <a:ext cx="4493700" cy="354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5E0DF"/>
              </a:buClr>
              <a:buSzPts val="2200"/>
              <a:buFont typeface="Roboto Mono"/>
              <a:buNone/>
            </a:pPr>
            <a:r>
              <a:rPr b="0" i="0" lang="en-US" sz="2200" u="none" cap="none" strike="noStrike">
                <a:solidFill>
                  <a:srgbClr val="E5E0DF"/>
                </a:solidFill>
                <a:latin typeface="Roboto Mono"/>
                <a:ea typeface="Roboto Mono"/>
                <a:cs typeface="Roboto Mono"/>
                <a:sym typeface="Roboto Mono"/>
              </a:rPr>
              <a:t>Specific Objectives</a:t>
            </a:r>
            <a:endParaRPr b="0" i="0" sz="2200" u="none" cap="none" strike="noStrike"/>
          </a:p>
        </p:txBody>
      </p:sp>
      <p:sp>
        <p:nvSpPr>
          <p:cNvPr id="140" name="Google Shape;140;p21"/>
          <p:cNvSpPr/>
          <p:nvPr/>
        </p:nvSpPr>
        <p:spPr>
          <a:xfrm>
            <a:off x="6280200" y="3607025"/>
            <a:ext cx="7041900" cy="3281100"/>
          </a:xfrm>
          <a:prstGeom prst="rect">
            <a:avLst/>
          </a:prstGeom>
          <a:noFill/>
          <a:ln>
            <a:noFill/>
          </a:ln>
        </p:spPr>
        <p:txBody>
          <a:bodyPr anchorCtr="0" anchor="t" bIns="0" lIns="0" spcFirstLastPara="1" rIns="0" wrap="square" tIns="0">
            <a:noAutofit/>
          </a:bodyPr>
          <a:lstStyle/>
          <a:p>
            <a:pPr indent="-339725" lvl="0" marL="457200" rtl="0" algn="l">
              <a:lnSpc>
                <a:spcPct val="162857"/>
              </a:lnSpc>
              <a:spcBef>
                <a:spcPts val="0"/>
              </a:spcBef>
              <a:spcAft>
                <a:spcPts val="0"/>
              </a:spcAft>
              <a:buClr>
                <a:srgbClr val="E5E0DF"/>
              </a:buClr>
              <a:buSzPts val="1750"/>
              <a:buFont typeface="Roboto"/>
              <a:buChar char="•"/>
            </a:pPr>
            <a:r>
              <a:rPr lang="en-US" sz="1750">
                <a:solidFill>
                  <a:srgbClr val="E5E0DF"/>
                </a:solidFill>
              </a:rPr>
              <a:t>Design and implement database schemas to support multi-tenant HRMS functionality.</a:t>
            </a:r>
            <a:endParaRPr sz="1750">
              <a:solidFill>
                <a:srgbClr val="E5E0DF"/>
              </a:solidFill>
            </a:endParaRPr>
          </a:p>
          <a:p>
            <a:pPr indent="-339725" lvl="0" marL="457200" rtl="0" algn="l">
              <a:lnSpc>
                <a:spcPct val="162857"/>
              </a:lnSpc>
              <a:spcBef>
                <a:spcPts val="0"/>
              </a:spcBef>
              <a:spcAft>
                <a:spcPts val="0"/>
              </a:spcAft>
              <a:buClr>
                <a:srgbClr val="E5E0DF"/>
              </a:buClr>
              <a:buSzPts val="1750"/>
              <a:buFont typeface="Roboto"/>
              <a:buChar char="•"/>
            </a:pPr>
            <a:r>
              <a:rPr lang="en-US" sz="1750">
                <a:solidFill>
                  <a:srgbClr val="E5E0DF"/>
                </a:solidFill>
              </a:rPr>
              <a:t>Develop and test RESTful APIs using .NET 8 for employee, role, and tenant management.</a:t>
            </a:r>
            <a:br>
              <a:rPr lang="en-US" sz="1750">
                <a:solidFill>
                  <a:srgbClr val="E5E0DF"/>
                </a:solidFill>
              </a:rPr>
            </a:br>
            <a:r>
              <a:rPr lang="en-US" sz="1750">
                <a:solidFill>
                  <a:srgbClr val="E5E0DF"/>
                </a:solidFill>
              </a:rPr>
              <a:t>Implement JWT authentication and Role-Based Access Control (RBAC) for system security.</a:t>
            </a:r>
            <a:endParaRPr sz="1750">
              <a:solidFill>
                <a:srgbClr val="E5E0DF"/>
              </a:solidFill>
            </a:endParaRPr>
          </a:p>
          <a:p>
            <a:pPr indent="-339725" lvl="0" marL="457200" rtl="0" algn="l">
              <a:lnSpc>
                <a:spcPct val="162857"/>
              </a:lnSpc>
              <a:spcBef>
                <a:spcPts val="0"/>
              </a:spcBef>
              <a:spcAft>
                <a:spcPts val="0"/>
              </a:spcAft>
              <a:buClr>
                <a:srgbClr val="E5E0DF"/>
              </a:buClr>
              <a:buSzPts val="1750"/>
              <a:buFont typeface="Roboto"/>
              <a:buChar char="•"/>
            </a:pPr>
            <a:r>
              <a:rPr lang="en-US" sz="1750">
                <a:solidFill>
                  <a:srgbClr val="E5E0DF"/>
                </a:solidFill>
              </a:rPr>
              <a:t>Ensure smooth frontend-backend integration through well-structured API responses.</a:t>
            </a:r>
            <a:endParaRPr sz="1750">
              <a:solidFill>
                <a:srgbClr val="E5E0DF"/>
              </a:solidFill>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2"/>
          <p:cNvSpPr/>
          <p:nvPr/>
        </p:nvSpPr>
        <p:spPr>
          <a:xfrm>
            <a:off x="605675" y="475900"/>
            <a:ext cx="7864500" cy="432600"/>
          </a:xfrm>
          <a:prstGeom prst="rect">
            <a:avLst/>
          </a:prstGeom>
          <a:noFill/>
          <a:ln>
            <a:noFill/>
          </a:ln>
        </p:spPr>
        <p:txBody>
          <a:bodyPr anchorCtr="0" anchor="t" bIns="0" lIns="0" spcFirstLastPara="1" rIns="0" wrap="square" tIns="0">
            <a:noAutofit/>
          </a:bodyPr>
          <a:lstStyle/>
          <a:p>
            <a:pPr indent="0" lvl="0" marL="0" marR="0" rtl="0" algn="l">
              <a:lnSpc>
                <a:spcPct val="125925"/>
              </a:lnSpc>
              <a:spcBef>
                <a:spcPts val="0"/>
              </a:spcBef>
              <a:spcAft>
                <a:spcPts val="0"/>
              </a:spcAft>
              <a:buClr>
                <a:srgbClr val="FFFFFF"/>
              </a:buClr>
              <a:buSzPts val="2700"/>
              <a:buFont typeface="Roboto Mono"/>
              <a:buNone/>
            </a:pPr>
            <a:r>
              <a:rPr b="0" i="0" lang="en-US" sz="2700" u="none" cap="none" strike="noStrike">
                <a:solidFill>
                  <a:srgbClr val="FFFFFF"/>
                </a:solidFill>
                <a:latin typeface="Roboto Mono"/>
                <a:ea typeface="Roboto Mono"/>
                <a:cs typeface="Roboto Mono"/>
                <a:sym typeface="Roboto Mono"/>
              </a:rPr>
              <a:t>Project Overview – Multi-Tenant HRMS</a:t>
            </a:r>
            <a:endParaRPr b="0" i="0" sz="2700" u="none" cap="none" strike="noStrike"/>
          </a:p>
        </p:txBody>
      </p:sp>
      <p:sp>
        <p:nvSpPr>
          <p:cNvPr id="147" name="Google Shape;147;p22"/>
          <p:cNvSpPr/>
          <p:nvPr/>
        </p:nvSpPr>
        <p:spPr>
          <a:xfrm>
            <a:off x="605671" y="1258848"/>
            <a:ext cx="7052072" cy="830818"/>
          </a:xfrm>
          <a:prstGeom prst="rect">
            <a:avLst/>
          </a:prstGeom>
          <a:noFill/>
          <a:ln>
            <a:noFill/>
          </a:ln>
        </p:spPr>
        <p:txBody>
          <a:bodyPr anchorCtr="0" anchor="t" bIns="0" lIns="0" spcFirstLastPara="1" rIns="0" wrap="square" tIns="0">
            <a:noAutofit/>
          </a:bodyPr>
          <a:lstStyle/>
          <a:p>
            <a:pPr indent="0" lvl="0" marL="0" marR="0" rtl="0" algn="l">
              <a:lnSpc>
                <a:spcPct val="159259"/>
              </a:lnSpc>
              <a:spcBef>
                <a:spcPts val="0"/>
              </a:spcBef>
              <a:spcAft>
                <a:spcPts val="0"/>
              </a:spcAft>
              <a:buClr>
                <a:srgbClr val="E5E0DF"/>
              </a:buClr>
              <a:buSzPts val="1350"/>
              <a:buFont typeface="Roboto"/>
              <a:buNone/>
            </a:pPr>
            <a:r>
              <a:rPr b="1" i="0" lang="en-US" sz="1350" u="none" cap="none" strike="noStrike">
                <a:solidFill>
                  <a:srgbClr val="E5E0DF"/>
                </a:solidFill>
                <a:latin typeface="Roboto"/>
                <a:ea typeface="Roboto"/>
                <a:cs typeface="Roboto"/>
                <a:sym typeface="Roboto"/>
              </a:rPr>
              <a:t>Purpose:</a:t>
            </a:r>
            <a:r>
              <a:rPr b="0" i="0" lang="en-US" sz="1350" u="none" cap="none" strike="noStrike">
                <a:solidFill>
                  <a:srgbClr val="E5E0DF"/>
                </a:solidFill>
                <a:latin typeface="Roboto"/>
                <a:ea typeface="Roboto"/>
                <a:cs typeface="Roboto"/>
                <a:sym typeface="Roboto"/>
              </a:rPr>
              <a:t> To significantly streamline and optimize human resource operations, covering key areas such as employee management, attendance tracking, and recruitment.</a:t>
            </a:r>
            <a:endParaRPr b="0" i="0" sz="1350" u="none" cap="none" strike="noStrike"/>
          </a:p>
        </p:txBody>
      </p:sp>
      <p:sp>
        <p:nvSpPr>
          <p:cNvPr id="148" name="Google Shape;148;p22"/>
          <p:cNvSpPr/>
          <p:nvPr/>
        </p:nvSpPr>
        <p:spPr>
          <a:xfrm>
            <a:off x="605671" y="2284333"/>
            <a:ext cx="7052072" cy="3482340"/>
          </a:xfrm>
          <a:prstGeom prst="roundRect">
            <a:avLst>
              <a:gd fmla="val 745" name="adj"/>
            </a:avLst>
          </a:prstGeom>
          <a:solidFill>
            <a:srgbClr val="4040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22"/>
          <p:cNvSpPr/>
          <p:nvPr/>
        </p:nvSpPr>
        <p:spPr>
          <a:xfrm>
            <a:off x="605671" y="2284333"/>
            <a:ext cx="7052072" cy="1741170"/>
          </a:xfrm>
          <a:prstGeom prst="roundRect">
            <a:avLst>
              <a:gd fmla="val 1491" name="adj"/>
            </a:avLst>
          </a:prstGeom>
          <a:solidFill>
            <a:srgbClr val="4040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22"/>
          <p:cNvSpPr/>
          <p:nvPr/>
        </p:nvSpPr>
        <p:spPr>
          <a:xfrm>
            <a:off x="778669" y="2457331"/>
            <a:ext cx="2163247" cy="270391"/>
          </a:xfrm>
          <a:prstGeom prst="rect">
            <a:avLst/>
          </a:prstGeom>
          <a:noFill/>
          <a:ln>
            <a:noFill/>
          </a:ln>
        </p:spPr>
        <p:txBody>
          <a:bodyPr anchorCtr="0" anchor="t" bIns="0" lIns="0" spcFirstLastPara="1" rIns="0" wrap="square" tIns="0">
            <a:noAutofit/>
          </a:bodyPr>
          <a:lstStyle/>
          <a:p>
            <a:pPr indent="0" lvl="0" marL="0" marR="0" rtl="0" algn="l">
              <a:lnSpc>
                <a:spcPct val="123529"/>
              </a:lnSpc>
              <a:spcBef>
                <a:spcPts val="0"/>
              </a:spcBef>
              <a:spcAft>
                <a:spcPts val="0"/>
              </a:spcAft>
              <a:buClr>
                <a:srgbClr val="E5E0DF"/>
              </a:buClr>
              <a:buSzPts val="1700"/>
              <a:buFont typeface="Roboto Mono"/>
              <a:buNone/>
            </a:pPr>
            <a:r>
              <a:rPr b="0" i="0" lang="en-US" sz="1700" u="none" cap="none" strike="noStrike">
                <a:solidFill>
                  <a:srgbClr val="E5E0DF"/>
                </a:solidFill>
                <a:latin typeface="Roboto Mono"/>
                <a:ea typeface="Roboto Mono"/>
                <a:cs typeface="Roboto Mono"/>
                <a:sym typeface="Roboto Mono"/>
              </a:rPr>
              <a:t>Key Features</a:t>
            </a:r>
            <a:endParaRPr b="0" i="0" sz="1700" u="none" cap="none" strike="noStrike"/>
          </a:p>
        </p:txBody>
      </p:sp>
      <p:sp>
        <p:nvSpPr>
          <p:cNvPr id="151" name="Google Shape;151;p22"/>
          <p:cNvSpPr/>
          <p:nvPr/>
        </p:nvSpPr>
        <p:spPr>
          <a:xfrm>
            <a:off x="778669" y="2900720"/>
            <a:ext cx="6706076" cy="276939"/>
          </a:xfrm>
          <a:prstGeom prst="rect">
            <a:avLst/>
          </a:prstGeom>
          <a:noFill/>
          <a:ln>
            <a:noFill/>
          </a:ln>
        </p:spPr>
        <p:txBody>
          <a:bodyPr anchorCtr="0" anchor="t" bIns="0" lIns="0" spcFirstLastPara="1" rIns="0" wrap="square" tIns="0">
            <a:noAutofit/>
          </a:bodyPr>
          <a:lstStyle/>
          <a:p>
            <a:pPr indent="-342900" lvl="0" marL="342900" marR="0" rtl="0" algn="l">
              <a:lnSpc>
                <a:spcPct val="159259"/>
              </a:lnSpc>
              <a:spcBef>
                <a:spcPts val="0"/>
              </a:spcBef>
              <a:spcAft>
                <a:spcPts val="0"/>
              </a:spcAft>
              <a:buClr>
                <a:srgbClr val="E5E0DF"/>
              </a:buClr>
              <a:buSzPts val="1350"/>
              <a:buFont typeface="Roboto"/>
              <a:buChar char="•"/>
            </a:pPr>
            <a:r>
              <a:rPr b="0" i="0" lang="en-US" sz="1350" u="none" cap="none" strike="noStrike">
                <a:solidFill>
                  <a:srgbClr val="E5E0DF"/>
                </a:solidFill>
                <a:latin typeface="Roboto"/>
                <a:ea typeface="Roboto"/>
                <a:cs typeface="Roboto"/>
                <a:sym typeface="Roboto"/>
              </a:rPr>
              <a:t>Multi-tenancy for multiple organizations</a:t>
            </a:r>
            <a:endParaRPr b="0" i="0" sz="1350" u="none" cap="none" strike="noStrike"/>
          </a:p>
        </p:txBody>
      </p:sp>
      <p:sp>
        <p:nvSpPr>
          <p:cNvPr id="152" name="Google Shape;152;p22"/>
          <p:cNvSpPr/>
          <p:nvPr/>
        </p:nvSpPr>
        <p:spPr>
          <a:xfrm>
            <a:off x="778669" y="3238143"/>
            <a:ext cx="6706076" cy="276939"/>
          </a:xfrm>
          <a:prstGeom prst="rect">
            <a:avLst/>
          </a:prstGeom>
          <a:noFill/>
          <a:ln>
            <a:noFill/>
          </a:ln>
        </p:spPr>
        <p:txBody>
          <a:bodyPr anchorCtr="0" anchor="t" bIns="0" lIns="0" spcFirstLastPara="1" rIns="0" wrap="square" tIns="0">
            <a:noAutofit/>
          </a:bodyPr>
          <a:lstStyle/>
          <a:p>
            <a:pPr indent="-342900" lvl="0" marL="342900" marR="0" rtl="0" algn="l">
              <a:lnSpc>
                <a:spcPct val="159259"/>
              </a:lnSpc>
              <a:spcBef>
                <a:spcPts val="0"/>
              </a:spcBef>
              <a:spcAft>
                <a:spcPts val="0"/>
              </a:spcAft>
              <a:buClr>
                <a:srgbClr val="E5E0DF"/>
              </a:buClr>
              <a:buSzPts val="1350"/>
              <a:buFont typeface="Roboto"/>
              <a:buChar char="•"/>
            </a:pPr>
            <a:r>
              <a:rPr b="0" i="0" lang="en-US" sz="1350" u="none" cap="none" strike="noStrike">
                <a:solidFill>
                  <a:srgbClr val="E5E0DF"/>
                </a:solidFill>
                <a:latin typeface="Roboto"/>
                <a:ea typeface="Roboto"/>
                <a:cs typeface="Roboto"/>
                <a:sym typeface="Roboto"/>
              </a:rPr>
              <a:t>Role-Based Access Control (RBAC)</a:t>
            </a:r>
            <a:endParaRPr b="0" i="0" sz="1350" u="none" cap="none" strike="noStrike"/>
          </a:p>
        </p:txBody>
      </p:sp>
      <p:sp>
        <p:nvSpPr>
          <p:cNvPr id="153" name="Google Shape;153;p22"/>
          <p:cNvSpPr/>
          <p:nvPr/>
        </p:nvSpPr>
        <p:spPr>
          <a:xfrm>
            <a:off x="778669" y="3575566"/>
            <a:ext cx="6706076" cy="276939"/>
          </a:xfrm>
          <a:prstGeom prst="rect">
            <a:avLst/>
          </a:prstGeom>
          <a:noFill/>
          <a:ln>
            <a:noFill/>
          </a:ln>
        </p:spPr>
        <p:txBody>
          <a:bodyPr anchorCtr="0" anchor="t" bIns="0" lIns="0" spcFirstLastPara="1" rIns="0" wrap="square" tIns="0">
            <a:noAutofit/>
          </a:bodyPr>
          <a:lstStyle/>
          <a:p>
            <a:pPr indent="-342900" lvl="0" marL="342900" marR="0" rtl="0" algn="l">
              <a:lnSpc>
                <a:spcPct val="159259"/>
              </a:lnSpc>
              <a:spcBef>
                <a:spcPts val="0"/>
              </a:spcBef>
              <a:spcAft>
                <a:spcPts val="0"/>
              </a:spcAft>
              <a:buClr>
                <a:srgbClr val="E5E0DF"/>
              </a:buClr>
              <a:buSzPts val="1350"/>
              <a:buFont typeface="Roboto"/>
              <a:buChar char="•"/>
            </a:pPr>
            <a:r>
              <a:rPr b="0" i="0" lang="en-US" sz="1350" u="none" cap="none" strike="noStrike">
                <a:solidFill>
                  <a:srgbClr val="E5E0DF"/>
                </a:solidFill>
                <a:latin typeface="Roboto"/>
                <a:ea typeface="Roboto"/>
                <a:cs typeface="Roboto"/>
                <a:sym typeface="Roboto"/>
              </a:rPr>
              <a:t>Responsive dashboards and forms</a:t>
            </a:r>
            <a:endParaRPr b="0" i="0" sz="1350" u="none" cap="none" strike="noStrike"/>
          </a:p>
        </p:txBody>
      </p:sp>
      <p:sp>
        <p:nvSpPr>
          <p:cNvPr id="154" name="Google Shape;154;p22"/>
          <p:cNvSpPr/>
          <p:nvPr/>
        </p:nvSpPr>
        <p:spPr>
          <a:xfrm>
            <a:off x="605671" y="4025503"/>
            <a:ext cx="7052072" cy="1741170"/>
          </a:xfrm>
          <a:prstGeom prst="rect">
            <a:avLst/>
          </a:prstGeom>
          <a:solidFill>
            <a:srgbClr val="4040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22"/>
          <p:cNvSpPr/>
          <p:nvPr/>
        </p:nvSpPr>
        <p:spPr>
          <a:xfrm>
            <a:off x="605671" y="4025503"/>
            <a:ext cx="7052072" cy="22860"/>
          </a:xfrm>
          <a:prstGeom prst="roundRect">
            <a:avLst>
              <a:gd fmla="val 113559" name="adj"/>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22"/>
          <p:cNvSpPr/>
          <p:nvPr/>
        </p:nvSpPr>
        <p:spPr>
          <a:xfrm>
            <a:off x="778669" y="4198501"/>
            <a:ext cx="2163247" cy="270391"/>
          </a:xfrm>
          <a:prstGeom prst="rect">
            <a:avLst/>
          </a:prstGeom>
          <a:noFill/>
          <a:ln>
            <a:noFill/>
          </a:ln>
        </p:spPr>
        <p:txBody>
          <a:bodyPr anchorCtr="0" anchor="t" bIns="0" lIns="0" spcFirstLastPara="1" rIns="0" wrap="square" tIns="0">
            <a:noAutofit/>
          </a:bodyPr>
          <a:lstStyle/>
          <a:p>
            <a:pPr indent="0" lvl="0" marL="0" marR="0" rtl="0" algn="l">
              <a:lnSpc>
                <a:spcPct val="123529"/>
              </a:lnSpc>
              <a:spcBef>
                <a:spcPts val="0"/>
              </a:spcBef>
              <a:spcAft>
                <a:spcPts val="0"/>
              </a:spcAft>
              <a:buClr>
                <a:srgbClr val="E5E0DF"/>
              </a:buClr>
              <a:buSzPts val="1700"/>
              <a:buFont typeface="Roboto Mono"/>
              <a:buNone/>
            </a:pPr>
            <a:r>
              <a:rPr b="0" i="0" lang="en-US" sz="1700" u="none" cap="none" strike="noStrike">
                <a:solidFill>
                  <a:srgbClr val="E5E0DF"/>
                </a:solidFill>
                <a:latin typeface="Roboto Mono"/>
                <a:ea typeface="Roboto Mono"/>
                <a:cs typeface="Roboto Mono"/>
                <a:sym typeface="Roboto Mono"/>
              </a:rPr>
              <a:t>Portals</a:t>
            </a:r>
            <a:endParaRPr b="0" i="0" sz="1700" u="none" cap="none" strike="noStrike"/>
          </a:p>
        </p:txBody>
      </p:sp>
      <p:sp>
        <p:nvSpPr>
          <p:cNvPr id="157" name="Google Shape;157;p22"/>
          <p:cNvSpPr/>
          <p:nvPr/>
        </p:nvSpPr>
        <p:spPr>
          <a:xfrm>
            <a:off x="778669" y="4641890"/>
            <a:ext cx="6706076" cy="276939"/>
          </a:xfrm>
          <a:prstGeom prst="rect">
            <a:avLst/>
          </a:prstGeom>
          <a:noFill/>
          <a:ln>
            <a:noFill/>
          </a:ln>
        </p:spPr>
        <p:txBody>
          <a:bodyPr anchorCtr="0" anchor="t" bIns="0" lIns="0" spcFirstLastPara="1" rIns="0" wrap="square" tIns="0">
            <a:noAutofit/>
          </a:bodyPr>
          <a:lstStyle/>
          <a:p>
            <a:pPr indent="0" lvl="0" marL="0" marR="0" rtl="0" algn="l">
              <a:lnSpc>
                <a:spcPct val="159259"/>
              </a:lnSpc>
              <a:spcBef>
                <a:spcPts val="0"/>
              </a:spcBef>
              <a:spcAft>
                <a:spcPts val="0"/>
              </a:spcAft>
              <a:buClr>
                <a:srgbClr val="E5E0DF"/>
              </a:buClr>
              <a:buSzPts val="1350"/>
              <a:buFont typeface="Roboto"/>
              <a:buNone/>
            </a:pPr>
            <a:r>
              <a:rPr b="1" i="0" lang="en-US" sz="1350" u="none" cap="none" strike="noStrike">
                <a:solidFill>
                  <a:srgbClr val="E5E0DF"/>
                </a:solidFill>
                <a:latin typeface="Roboto"/>
                <a:ea typeface="Roboto"/>
                <a:cs typeface="Roboto"/>
                <a:sym typeface="Roboto"/>
              </a:rPr>
              <a:t>Super Admin:</a:t>
            </a:r>
            <a:r>
              <a:rPr b="0" i="0" lang="en-US" sz="1350" u="none" cap="none" strike="noStrike">
                <a:solidFill>
                  <a:srgbClr val="E5E0DF"/>
                </a:solidFill>
                <a:latin typeface="Roboto"/>
                <a:ea typeface="Roboto"/>
                <a:cs typeface="Roboto"/>
                <a:sym typeface="Roboto"/>
              </a:rPr>
              <a:t> Manage organizations, monitor usage</a:t>
            </a:r>
            <a:endParaRPr b="0" i="0" sz="1350" u="none" cap="none" strike="noStrike"/>
          </a:p>
        </p:txBody>
      </p:sp>
      <p:sp>
        <p:nvSpPr>
          <p:cNvPr id="158" name="Google Shape;158;p22"/>
          <p:cNvSpPr/>
          <p:nvPr/>
        </p:nvSpPr>
        <p:spPr>
          <a:xfrm>
            <a:off x="778669" y="4979313"/>
            <a:ext cx="6706076" cy="276939"/>
          </a:xfrm>
          <a:prstGeom prst="rect">
            <a:avLst/>
          </a:prstGeom>
          <a:noFill/>
          <a:ln>
            <a:noFill/>
          </a:ln>
        </p:spPr>
        <p:txBody>
          <a:bodyPr anchorCtr="0" anchor="t" bIns="0" lIns="0" spcFirstLastPara="1" rIns="0" wrap="square" tIns="0">
            <a:noAutofit/>
          </a:bodyPr>
          <a:lstStyle/>
          <a:p>
            <a:pPr indent="0" lvl="0" marL="0" marR="0" rtl="0" algn="l">
              <a:lnSpc>
                <a:spcPct val="159259"/>
              </a:lnSpc>
              <a:spcBef>
                <a:spcPts val="0"/>
              </a:spcBef>
              <a:spcAft>
                <a:spcPts val="0"/>
              </a:spcAft>
              <a:buClr>
                <a:srgbClr val="E5E0DF"/>
              </a:buClr>
              <a:buSzPts val="1350"/>
              <a:buFont typeface="Roboto"/>
              <a:buNone/>
            </a:pPr>
            <a:r>
              <a:rPr b="1" i="0" lang="en-US" sz="1350" u="none" cap="none" strike="noStrike">
                <a:solidFill>
                  <a:srgbClr val="E5E0DF"/>
                </a:solidFill>
                <a:latin typeface="Roboto"/>
                <a:ea typeface="Roboto"/>
                <a:cs typeface="Roboto"/>
                <a:sym typeface="Roboto"/>
              </a:rPr>
              <a:t>Admin User:</a:t>
            </a:r>
            <a:r>
              <a:rPr b="0" i="0" lang="en-US" sz="1350" u="none" cap="none" strike="noStrike">
                <a:solidFill>
                  <a:srgbClr val="E5E0DF"/>
                </a:solidFill>
                <a:latin typeface="Roboto"/>
                <a:ea typeface="Roboto"/>
                <a:cs typeface="Roboto"/>
                <a:sym typeface="Roboto"/>
              </a:rPr>
              <a:t> Employee management, attendance, recruitment</a:t>
            </a:r>
            <a:endParaRPr b="0" i="0" sz="1350" u="none" cap="none" strike="noStrike"/>
          </a:p>
        </p:txBody>
      </p:sp>
      <p:sp>
        <p:nvSpPr>
          <p:cNvPr id="159" name="Google Shape;159;p22"/>
          <p:cNvSpPr/>
          <p:nvPr/>
        </p:nvSpPr>
        <p:spPr>
          <a:xfrm>
            <a:off x="778669" y="5316736"/>
            <a:ext cx="6706076" cy="276939"/>
          </a:xfrm>
          <a:prstGeom prst="rect">
            <a:avLst/>
          </a:prstGeom>
          <a:noFill/>
          <a:ln>
            <a:noFill/>
          </a:ln>
        </p:spPr>
        <p:txBody>
          <a:bodyPr anchorCtr="0" anchor="t" bIns="0" lIns="0" spcFirstLastPara="1" rIns="0" wrap="square" tIns="0">
            <a:noAutofit/>
          </a:bodyPr>
          <a:lstStyle/>
          <a:p>
            <a:pPr indent="0" lvl="0" marL="0" marR="0" rtl="0" algn="l">
              <a:lnSpc>
                <a:spcPct val="159259"/>
              </a:lnSpc>
              <a:spcBef>
                <a:spcPts val="0"/>
              </a:spcBef>
              <a:spcAft>
                <a:spcPts val="0"/>
              </a:spcAft>
              <a:buClr>
                <a:srgbClr val="E5E0DF"/>
              </a:buClr>
              <a:buSzPts val="1350"/>
              <a:buFont typeface="Roboto"/>
              <a:buNone/>
            </a:pPr>
            <a:r>
              <a:rPr b="1" i="0" lang="en-US" sz="1350" u="none" cap="none" strike="noStrike">
                <a:solidFill>
                  <a:srgbClr val="E5E0DF"/>
                </a:solidFill>
                <a:latin typeface="Roboto"/>
                <a:ea typeface="Roboto"/>
                <a:cs typeface="Roboto"/>
                <a:sym typeface="Roboto"/>
              </a:rPr>
              <a:t>Employee Portal:</a:t>
            </a:r>
            <a:r>
              <a:rPr b="0" i="0" lang="en-US" sz="1350" u="none" cap="none" strike="noStrike">
                <a:solidFill>
                  <a:srgbClr val="E5E0DF"/>
                </a:solidFill>
                <a:latin typeface="Roboto"/>
                <a:ea typeface="Roboto"/>
                <a:cs typeface="Roboto"/>
                <a:sym typeface="Roboto"/>
              </a:rPr>
              <a:t> Leave requests, performance reviews, announcements</a:t>
            </a:r>
            <a:endParaRPr b="0" i="0" sz="1350" u="none" cap="none" strike="noStrike"/>
          </a:p>
        </p:txBody>
      </p:sp>
      <p:sp>
        <p:nvSpPr>
          <p:cNvPr id="160" name="Google Shape;160;p22"/>
          <p:cNvSpPr/>
          <p:nvPr/>
        </p:nvSpPr>
        <p:spPr>
          <a:xfrm>
            <a:off x="605671" y="5961340"/>
            <a:ext cx="2595920" cy="324445"/>
          </a:xfrm>
          <a:prstGeom prst="rect">
            <a:avLst/>
          </a:prstGeom>
          <a:noFill/>
          <a:ln>
            <a:noFill/>
          </a:ln>
        </p:spPr>
        <p:txBody>
          <a:bodyPr anchorCtr="0" anchor="t" bIns="0" lIns="0" spcFirstLastPara="1" rIns="0" wrap="square" tIns="0">
            <a:noAutofit/>
          </a:bodyPr>
          <a:lstStyle/>
          <a:p>
            <a:pPr indent="0" lvl="0" marL="0" marR="0" rtl="0" algn="l">
              <a:lnSpc>
                <a:spcPct val="127500"/>
              </a:lnSpc>
              <a:spcBef>
                <a:spcPts val="0"/>
              </a:spcBef>
              <a:spcAft>
                <a:spcPts val="0"/>
              </a:spcAft>
              <a:buClr>
                <a:srgbClr val="FFFFFF"/>
              </a:buClr>
              <a:buSzPts val="2000"/>
              <a:buFont typeface="Roboto Mono"/>
              <a:buNone/>
            </a:pPr>
            <a:r>
              <a:rPr b="0" i="0" lang="en-US" sz="2000" u="none" cap="none" strike="noStrike">
                <a:solidFill>
                  <a:srgbClr val="FFFFFF"/>
                </a:solidFill>
                <a:latin typeface="Roboto Mono"/>
                <a:ea typeface="Roboto Mono"/>
                <a:cs typeface="Roboto Mono"/>
                <a:sym typeface="Roboto Mono"/>
              </a:rPr>
              <a:t>Technologies Used</a:t>
            </a:r>
            <a:endParaRPr b="0" i="0" sz="2000" u="none" cap="none" strike="noStrike"/>
          </a:p>
        </p:txBody>
      </p:sp>
      <p:sp>
        <p:nvSpPr>
          <p:cNvPr id="161" name="Google Shape;161;p22"/>
          <p:cNvSpPr/>
          <p:nvPr/>
        </p:nvSpPr>
        <p:spPr>
          <a:xfrm>
            <a:off x="605671" y="6458783"/>
            <a:ext cx="7052072" cy="276939"/>
          </a:xfrm>
          <a:prstGeom prst="rect">
            <a:avLst/>
          </a:prstGeom>
          <a:noFill/>
          <a:ln>
            <a:noFill/>
          </a:ln>
        </p:spPr>
        <p:txBody>
          <a:bodyPr anchorCtr="0" anchor="t" bIns="0" lIns="0" spcFirstLastPara="1" rIns="0" wrap="square" tIns="0">
            <a:noAutofit/>
          </a:bodyPr>
          <a:lstStyle/>
          <a:p>
            <a:pPr indent="0" lvl="0" marL="0" marR="0" rtl="0" algn="l">
              <a:lnSpc>
                <a:spcPct val="159259"/>
              </a:lnSpc>
              <a:spcBef>
                <a:spcPts val="0"/>
              </a:spcBef>
              <a:spcAft>
                <a:spcPts val="0"/>
              </a:spcAft>
              <a:buClr>
                <a:srgbClr val="E5E0DF"/>
              </a:buClr>
              <a:buSzPts val="1350"/>
              <a:buFont typeface="Roboto"/>
              <a:buNone/>
            </a:pPr>
            <a:r>
              <a:rPr b="1" i="0" lang="en-US" sz="1350" u="none" cap="none" strike="noStrike">
                <a:solidFill>
                  <a:srgbClr val="E5E0DF"/>
                </a:solidFill>
                <a:latin typeface="Roboto"/>
                <a:ea typeface="Roboto"/>
                <a:cs typeface="Roboto"/>
                <a:sym typeface="Roboto"/>
              </a:rPr>
              <a:t>Front-End:</a:t>
            </a:r>
            <a:r>
              <a:rPr b="0" i="0" lang="en-US" sz="1350" u="none" cap="none" strike="noStrike">
                <a:solidFill>
                  <a:srgbClr val="E5E0DF"/>
                </a:solidFill>
                <a:latin typeface="Roboto"/>
                <a:ea typeface="Roboto"/>
                <a:cs typeface="Roboto"/>
                <a:sym typeface="Roboto"/>
              </a:rPr>
              <a:t> React, Next.js, Tailwind CSS, React Hook Form, Zod</a:t>
            </a:r>
            <a:endParaRPr b="0" i="0" sz="1350" u="none" cap="none" strike="noStrike"/>
          </a:p>
        </p:txBody>
      </p:sp>
      <p:sp>
        <p:nvSpPr>
          <p:cNvPr id="162" name="Google Shape;162;p22"/>
          <p:cNvSpPr/>
          <p:nvPr/>
        </p:nvSpPr>
        <p:spPr>
          <a:xfrm>
            <a:off x="605671" y="6891457"/>
            <a:ext cx="7052072" cy="276939"/>
          </a:xfrm>
          <a:prstGeom prst="rect">
            <a:avLst/>
          </a:prstGeom>
          <a:noFill/>
          <a:ln>
            <a:noFill/>
          </a:ln>
        </p:spPr>
        <p:txBody>
          <a:bodyPr anchorCtr="0" anchor="t" bIns="0" lIns="0" spcFirstLastPara="1" rIns="0" wrap="square" tIns="0">
            <a:noAutofit/>
          </a:bodyPr>
          <a:lstStyle/>
          <a:p>
            <a:pPr indent="0" lvl="0" marL="0" marR="0" rtl="0" algn="l">
              <a:lnSpc>
                <a:spcPct val="159259"/>
              </a:lnSpc>
              <a:spcBef>
                <a:spcPts val="0"/>
              </a:spcBef>
              <a:spcAft>
                <a:spcPts val="0"/>
              </a:spcAft>
              <a:buClr>
                <a:srgbClr val="E5E0DF"/>
              </a:buClr>
              <a:buSzPts val="1350"/>
              <a:buFont typeface="Roboto"/>
              <a:buNone/>
            </a:pPr>
            <a:r>
              <a:rPr b="1" i="0" lang="en-US" sz="1350" u="none" cap="none" strike="noStrike">
                <a:solidFill>
                  <a:srgbClr val="E5E0DF"/>
                </a:solidFill>
                <a:latin typeface="Roboto"/>
                <a:ea typeface="Roboto"/>
                <a:cs typeface="Roboto"/>
                <a:sym typeface="Roboto"/>
              </a:rPr>
              <a:t>Back-End:</a:t>
            </a:r>
            <a:r>
              <a:rPr b="0" i="0" lang="en-US" sz="1350" u="none" cap="none" strike="noStrike">
                <a:solidFill>
                  <a:srgbClr val="E5E0DF"/>
                </a:solidFill>
                <a:latin typeface="Roboto"/>
                <a:ea typeface="Roboto"/>
                <a:cs typeface="Roboto"/>
                <a:sym typeface="Roboto"/>
              </a:rPr>
              <a:t> Node.js, .NET 9, Next-Auth</a:t>
            </a:r>
            <a:endParaRPr b="0" i="0" sz="1350" u="none" cap="none" strike="noStrike"/>
          </a:p>
        </p:txBody>
      </p:sp>
      <p:sp>
        <p:nvSpPr>
          <p:cNvPr id="163" name="Google Shape;163;p22"/>
          <p:cNvSpPr/>
          <p:nvPr/>
        </p:nvSpPr>
        <p:spPr>
          <a:xfrm>
            <a:off x="605671" y="7324130"/>
            <a:ext cx="7052100" cy="276900"/>
          </a:xfrm>
          <a:prstGeom prst="rect">
            <a:avLst/>
          </a:prstGeom>
          <a:noFill/>
          <a:ln>
            <a:noFill/>
          </a:ln>
        </p:spPr>
        <p:txBody>
          <a:bodyPr anchorCtr="0" anchor="t" bIns="0" lIns="0" spcFirstLastPara="1" rIns="0" wrap="square" tIns="0">
            <a:noAutofit/>
          </a:bodyPr>
          <a:lstStyle/>
          <a:p>
            <a:pPr indent="0" lvl="0" marL="0" marR="0" rtl="0" algn="l">
              <a:lnSpc>
                <a:spcPct val="159259"/>
              </a:lnSpc>
              <a:spcBef>
                <a:spcPts val="0"/>
              </a:spcBef>
              <a:spcAft>
                <a:spcPts val="0"/>
              </a:spcAft>
              <a:buClr>
                <a:srgbClr val="E5E0DF"/>
              </a:buClr>
              <a:buSzPts val="1350"/>
              <a:buFont typeface="Roboto"/>
              <a:buNone/>
            </a:pPr>
            <a:r>
              <a:rPr b="1" i="0" lang="en-US" sz="1350" u="none" cap="none" strike="noStrike">
                <a:solidFill>
                  <a:srgbClr val="E5E0DF"/>
                </a:solidFill>
                <a:latin typeface="Roboto"/>
                <a:ea typeface="Roboto"/>
                <a:cs typeface="Roboto"/>
                <a:sym typeface="Roboto"/>
              </a:rPr>
              <a:t>Version Control:</a:t>
            </a:r>
            <a:r>
              <a:rPr b="0" i="0" lang="en-US" sz="1350" u="none" cap="none" strike="noStrike">
                <a:solidFill>
                  <a:srgbClr val="E5E0DF"/>
                </a:solidFill>
                <a:latin typeface="Roboto"/>
                <a:ea typeface="Roboto"/>
                <a:cs typeface="Roboto"/>
                <a:sym typeface="Roboto"/>
              </a:rPr>
              <a:t> Git</a:t>
            </a:r>
            <a:endParaRPr b="0" i="0" sz="1350" u="none" cap="none" strike="noStrike"/>
          </a:p>
        </p:txBody>
      </p:sp>
      <p:pic>
        <p:nvPicPr>
          <p:cNvPr descr="preencoded.png" id="164" name="Google Shape;164;p22"/>
          <p:cNvPicPr preferRelativeResize="0"/>
          <p:nvPr/>
        </p:nvPicPr>
        <p:blipFill rotWithShape="1">
          <a:blip r:embed="rId3">
            <a:alphaModFix/>
          </a:blip>
          <a:srcRect b="0" l="0" r="0" t="0"/>
          <a:stretch/>
        </p:blipFill>
        <p:spPr>
          <a:xfrm>
            <a:off x="8278788" y="1258850"/>
            <a:ext cx="5856326" cy="3121163"/>
          </a:xfrm>
          <a:prstGeom prst="rect">
            <a:avLst/>
          </a:prstGeom>
          <a:noFill/>
          <a:ln>
            <a:noFill/>
          </a:ln>
        </p:spPr>
      </p:pic>
      <p:sp>
        <p:nvSpPr>
          <p:cNvPr id="165" name="Google Shape;165;p22"/>
          <p:cNvSpPr/>
          <p:nvPr/>
        </p:nvSpPr>
        <p:spPr>
          <a:xfrm>
            <a:off x="8087550" y="4532375"/>
            <a:ext cx="2354700" cy="324300"/>
          </a:xfrm>
          <a:prstGeom prst="rect">
            <a:avLst/>
          </a:prstGeom>
          <a:noFill/>
          <a:ln>
            <a:noFill/>
          </a:ln>
        </p:spPr>
        <p:txBody>
          <a:bodyPr anchorCtr="0" anchor="t" bIns="0" lIns="0" spcFirstLastPara="1" rIns="0" wrap="square" tIns="0">
            <a:noAutofit/>
          </a:bodyPr>
          <a:lstStyle/>
          <a:p>
            <a:pPr indent="0" lvl="0" marL="0" marR="0" rtl="0" algn="l">
              <a:lnSpc>
                <a:spcPct val="123529"/>
              </a:lnSpc>
              <a:spcBef>
                <a:spcPts val="0"/>
              </a:spcBef>
              <a:spcAft>
                <a:spcPts val="0"/>
              </a:spcAft>
              <a:buClr>
                <a:srgbClr val="FFFFFF"/>
              </a:buClr>
              <a:buSzPts val="1700"/>
              <a:buFont typeface="Roboto Mono"/>
              <a:buNone/>
            </a:pPr>
            <a:r>
              <a:rPr b="0" i="0" lang="en-US" sz="1700" u="none" cap="none" strike="noStrike">
                <a:solidFill>
                  <a:srgbClr val="FFFFFF"/>
                </a:solidFill>
                <a:latin typeface="Roboto Mono"/>
                <a:ea typeface="Roboto Mono"/>
                <a:cs typeface="Roboto Mono"/>
                <a:sym typeface="Roboto Mono"/>
              </a:rPr>
              <a:t>My Contributions </a:t>
            </a:r>
            <a:endParaRPr b="0" i="0" sz="1700" u="none" cap="none" strike="noStrike"/>
          </a:p>
        </p:txBody>
      </p:sp>
      <p:sp>
        <p:nvSpPr>
          <p:cNvPr id="166" name="Google Shape;166;p22"/>
          <p:cNvSpPr/>
          <p:nvPr/>
        </p:nvSpPr>
        <p:spPr>
          <a:xfrm>
            <a:off x="8207075" y="4979327"/>
            <a:ext cx="4531500" cy="432600"/>
          </a:xfrm>
          <a:prstGeom prst="rect">
            <a:avLst/>
          </a:prstGeom>
          <a:noFill/>
          <a:ln>
            <a:noFill/>
          </a:ln>
        </p:spPr>
        <p:txBody>
          <a:bodyPr anchorCtr="0" anchor="t" bIns="0" lIns="0" spcFirstLastPara="1" rIns="0" wrap="square" tIns="0">
            <a:noAutofit/>
          </a:bodyPr>
          <a:lstStyle/>
          <a:p>
            <a:pPr indent="0" lvl="0" marL="0" marR="0" rtl="0" algn="l">
              <a:lnSpc>
                <a:spcPct val="123529"/>
              </a:lnSpc>
              <a:spcBef>
                <a:spcPts val="0"/>
              </a:spcBef>
              <a:spcAft>
                <a:spcPts val="0"/>
              </a:spcAft>
              <a:buClr>
                <a:srgbClr val="FFFFFF"/>
              </a:buClr>
              <a:buSzPts val="1700"/>
              <a:buFont typeface="Roboto Mono"/>
              <a:buNone/>
            </a:pPr>
            <a:r>
              <a:rPr lang="en-US" sz="1700">
                <a:solidFill>
                  <a:srgbClr val="FFFFFF"/>
                </a:solidFill>
                <a:latin typeface="Roboto Mono"/>
                <a:ea typeface="Roboto Mono"/>
                <a:cs typeface="Roboto Mono"/>
                <a:sym typeface="Roboto Mono"/>
              </a:rPr>
              <a:t>Back</a:t>
            </a:r>
            <a:r>
              <a:rPr b="0" i="0" lang="en-US" sz="1700" u="none" cap="none" strike="noStrike">
                <a:solidFill>
                  <a:srgbClr val="FFFFFF"/>
                </a:solidFill>
                <a:latin typeface="Roboto Mono"/>
                <a:ea typeface="Roboto Mono"/>
                <a:cs typeface="Roboto Mono"/>
                <a:sym typeface="Roboto Mono"/>
              </a:rPr>
              <a:t>-End Development</a:t>
            </a:r>
            <a:endParaRPr b="0" i="0" sz="1700" u="none" cap="none" strike="noStrike"/>
          </a:p>
        </p:txBody>
      </p:sp>
      <p:sp>
        <p:nvSpPr>
          <p:cNvPr id="167" name="Google Shape;167;p22"/>
          <p:cNvSpPr/>
          <p:nvPr/>
        </p:nvSpPr>
        <p:spPr>
          <a:xfrm>
            <a:off x="7838325" y="5411925"/>
            <a:ext cx="6539400" cy="2186400"/>
          </a:xfrm>
          <a:prstGeom prst="rect">
            <a:avLst/>
          </a:prstGeom>
          <a:noFill/>
          <a:ln>
            <a:noFill/>
          </a:ln>
        </p:spPr>
        <p:txBody>
          <a:bodyPr anchorCtr="0" anchor="t" bIns="0" lIns="0" spcFirstLastPara="1" rIns="0" wrap="square" tIns="0">
            <a:noAutofit/>
          </a:bodyPr>
          <a:lstStyle/>
          <a:p>
            <a:pPr indent="-339725" lvl="0" marL="457200" rtl="0" algn="l">
              <a:lnSpc>
                <a:spcPct val="159259"/>
              </a:lnSpc>
              <a:spcBef>
                <a:spcPts val="0"/>
              </a:spcBef>
              <a:spcAft>
                <a:spcPts val="0"/>
              </a:spcAft>
              <a:buClr>
                <a:srgbClr val="E5E0DF"/>
              </a:buClr>
              <a:buSzPts val="1750"/>
              <a:buFont typeface="Roboto"/>
              <a:buChar char="•"/>
            </a:pPr>
            <a:r>
              <a:rPr lang="en-US" sz="1750">
                <a:solidFill>
                  <a:srgbClr val="E5E0DF"/>
                </a:solidFill>
              </a:rPr>
              <a:t>I designed and optimized database schemas and developed RESTful APIs for HRMS modules.</a:t>
            </a:r>
            <a:endParaRPr sz="1750">
              <a:solidFill>
                <a:srgbClr val="E5E0DF"/>
              </a:solidFill>
            </a:endParaRPr>
          </a:p>
          <a:p>
            <a:pPr indent="-339725" lvl="0" marL="457200" rtl="0" algn="l">
              <a:lnSpc>
                <a:spcPct val="159259"/>
              </a:lnSpc>
              <a:spcBef>
                <a:spcPts val="0"/>
              </a:spcBef>
              <a:spcAft>
                <a:spcPts val="0"/>
              </a:spcAft>
              <a:buClr>
                <a:srgbClr val="E5E0DF"/>
              </a:buClr>
              <a:buSzPts val="1750"/>
              <a:buFont typeface="Roboto"/>
              <a:buChar char="•"/>
            </a:pPr>
            <a:r>
              <a:rPr lang="en-US" sz="1750">
                <a:solidFill>
                  <a:srgbClr val="E5E0DF"/>
                </a:solidFill>
              </a:rPr>
              <a:t>Implemented JWT authentication and role-based access control (RBAC) for secure access.</a:t>
            </a:r>
            <a:endParaRPr sz="1750">
              <a:solidFill>
                <a:srgbClr val="E5E0DF"/>
              </a:solidFill>
            </a:endParaRPr>
          </a:p>
          <a:p>
            <a:pPr indent="-368300" lvl="0" marL="342900" marR="0" rtl="0" algn="l">
              <a:lnSpc>
                <a:spcPct val="159259"/>
              </a:lnSpc>
              <a:spcBef>
                <a:spcPts val="0"/>
              </a:spcBef>
              <a:spcAft>
                <a:spcPts val="0"/>
              </a:spcAft>
              <a:buClr>
                <a:srgbClr val="E5E0DF"/>
              </a:buClr>
              <a:buSzPts val="1750"/>
              <a:buFont typeface="Roboto"/>
              <a:buChar char="•"/>
            </a:pPr>
            <a:r>
              <a:rPr lang="en-US" sz="1750">
                <a:solidFill>
                  <a:srgbClr val="E5E0DF"/>
                </a:solidFill>
              </a:rPr>
              <a:t>Collaborated using Git, resolved merge conflicts, and ensured smooth frontend-backend integration.</a:t>
            </a:r>
            <a:endParaRPr sz="1750">
              <a:solidFill>
                <a:srgbClr val="E5E0DF"/>
              </a:solidFill>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3"/>
          <p:cNvSpPr/>
          <p:nvPr/>
        </p:nvSpPr>
        <p:spPr>
          <a:xfrm>
            <a:off x="920898" y="936550"/>
            <a:ext cx="7188000" cy="4254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1400"/>
              </a:spcBef>
              <a:spcAft>
                <a:spcPts val="400"/>
              </a:spcAft>
              <a:buClr>
                <a:schemeClr val="dk1"/>
              </a:buClr>
              <a:buSzPts val="1100"/>
              <a:buFont typeface="Arial"/>
              <a:buNone/>
            </a:pPr>
            <a:r>
              <a:rPr b="1" lang="en-US" sz="2700">
                <a:solidFill>
                  <a:srgbClr val="E5E0DF"/>
                </a:solidFill>
                <a:latin typeface="Times New Roman"/>
                <a:ea typeface="Times New Roman"/>
                <a:cs typeface="Times New Roman"/>
                <a:sym typeface="Times New Roman"/>
              </a:rPr>
              <a:t>System Functionalities and Demonstration</a:t>
            </a:r>
            <a:endParaRPr b="0" i="0" sz="2700" u="none" cap="none" strike="noStrike">
              <a:solidFill>
                <a:srgbClr val="E5E0DF"/>
              </a:solidFill>
            </a:endParaRPr>
          </a:p>
        </p:txBody>
      </p:sp>
      <p:sp>
        <p:nvSpPr>
          <p:cNvPr id="174" name="Google Shape;174;p23"/>
          <p:cNvSpPr/>
          <p:nvPr/>
        </p:nvSpPr>
        <p:spPr>
          <a:xfrm>
            <a:off x="920890" y="1636454"/>
            <a:ext cx="3402300" cy="425400"/>
          </a:xfrm>
          <a:prstGeom prst="rect">
            <a:avLst/>
          </a:prstGeom>
          <a:noFill/>
          <a:ln>
            <a:noFill/>
          </a:ln>
        </p:spPr>
        <p:txBody>
          <a:bodyPr anchorCtr="0" anchor="t" bIns="0" lIns="0" spcFirstLastPara="1" rIns="0" wrap="square" tIns="0">
            <a:noAutofit/>
          </a:bodyPr>
          <a:lstStyle/>
          <a:p>
            <a:pPr indent="-339725" lvl="0" marL="457200" rtl="0" algn="l">
              <a:lnSpc>
                <a:spcPct val="150000"/>
              </a:lnSpc>
              <a:spcBef>
                <a:spcPts val="1200"/>
              </a:spcBef>
              <a:spcAft>
                <a:spcPts val="0"/>
              </a:spcAft>
              <a:buClr>
                <a:srgbClr val="E5E0DF"/>
              </a:buClr>
              <a:buSzPts val="1750"/>
              <a:buFont typeface="Times New Roman"/>
              <a:buChar char="●"/>
            </a:pPr>
            <a:r>
              <a:rPr lang="en-US" sz="1750">
                <a:solidFill>
                  <a:srgbClr val="E5E0DF"/>
                </a:solidFill>
                <a:latin typeface="Times New Roman"/>
                <a:ea typeface="Times New Roman"/>
                <a:cs typeface="Times New Roman"/>
                <a:sym typeface="Times New Roman"/>
              </a:rPr>
              <a:t>Overall</a:t>
            </a:r>
            <a:endParaRPr b="0" i="0" sz="1750" u="none" cap="none" strike="noStrike">
              <a:solidFill>
                <a:srgbClr val="E5E0DF"/>
              </a:solidFill>
            </a:endParaRPr>
          </a:p>
        </p:txBody>
      </p:sp>
      <p:pic>
        <p:nvPicPr>
          <p:cNvPr id="175" name="Google Shape;175;p23"/>
          <p:cNvPicPr preferRelativeResize="0"/>
          <p:nvPr/>
        </p:nvPicPr>
        <p:blipFill>
          <a:blip r:embed="rId3">
            <a:alphaModFix/>
          </a:blip>
          <a:stretch>
            <a:fillRect/>
          </a:stretch>
        </p:blipFill>
        <p:spPr>
          <a:xfrm>
            <a:off x="2730550" y="1839925"/>
            <a:ext cx="10178700" cy="571891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pic>
        <p:nvPicPr>
          <p:cNvPr id="181" name="Google Shape;181;p24"/>
          <p:cNvPicPr preferRelativeResize="0"/>
          <p:nvPr/>
        </p:nvPicPr>
        <p:blipFill>
          <a:blip r:embed="rId3">
            <a:alphaModFix/>
          </a:blip>
          <a:stretch>
            <a:fillRect/>
          </a:stretch>
        </p:blipFill>
        <p:spPr>
          <a:xfrm>
            <a:off x="3294325" y="2315900"/>
            <a:ext cx="8334400" cy="4704300"/>
          </a:xfrm>
          <a:prstGeom prst="rect">
            <a:avLst/>
          </a:prstGeom>
          <a:noFill/>
          <a:ln>
            <a:noFill/>
          </a:ln>
        </p:spPr>
      </p:pic>
      <p:sp>
        <p:nvSpPr>
          <p:cNvPr id="182" name="Google Shape;182;p24"/>
          <p:cNvSpPr/>
          <p:nvPr/>
        </p:nvSpPr>
        <p:spPr>
          <a:xfrm>
            <a:off x="1364825" y="1300474"/>
            <a:ext cx="3402300" cy="614700"/>
          </a:xfrm>
          <a:prstGeom prst="rect">
            <a:avLst/>
          </a:prstGeom>
          <a:noFill/>
          <a:ln>
            <a:noFill/>
          </a:ln>
        </p:spPr>
        <p:txBody>
          <a:bodyPr anchorCtr="0" anchor="t" bIns="0" lIns="0" spcFirstLastPara="1" rIns="0" wrap="square" tIns="0">
            <a:noAutofit/>
          </a:bodyPr>
          <a:lstStyle/>
          <a:p>
            <a:pPr indent="-400050" lvl="0" marL="457200" rtl="0" algn="l">
              <a:lnSpc>
                <a:spcPct val="150000"/>
              </a:lnSpc>
              <a:spcBef>
                <a:spcPts val="1200"/>
              </a:spcBef>
              <a:spcAft>
                <a:spcPts val="0"/>
              </a:spcAft>
              <a:buClr>
                <a:srgbClr val="E5E0DF"/>
              </a:buClr>
              <a:buSzPts val="2700"/>
              <a:buFont typeface="Times New Roman"/>
              <a:buChar char="●"/>
            </a:pPr>
            <a:r>
              <a:rPr lang="en-US" sz="2700">
                <a:solidFill>
                  <a:srgbClr val="E5E0DF"/>
                </a:solidFill>
                <a:latin typeface="Times New Roman"/>
                <a:ea typeface="Times New Roman"/>
                <a:cs typeface="Times New Roman"/>
                <a:sym typeface="Times New Roman"/>
              </a:rPr>
              <a:t>Design database</a:t>
            </a:r>
            <a:endParaRPr b="0" i="0" sz="2700" u="none" cap="none" strike="noStrike">
              <a:solidFill>
                <a:srgbClr val="E5E0DF"/>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5"/>
          <p:cNvSpPr/>
          <p:nvPr/>
        </p:nvSpPr>
        <p:spPr>
          <a:xfrm>
            <a:off x="1194425" y="1300475"/>
            <a:ext cx="2786700" cy="67068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1200"/>
              </a:spcBef>
              <a:spcAft>
                <a:spcPts val="0"/>
              </a:spcAft>
              <a:buClr>
                <a:schemeClr val="dk1"/>
              </a:buClr>
              <a:buSzPts val="1100"/>
              <a:buFont typeface="Arial"/>
              <a:buNone/>
            </a:pPr>
            <a:r>
              <a:rPr lang="en-US" sz="600">
                <a:solidFill>
                  <a:srgbClr val="E5E0DF"/>
                </a:solidFill>
                <a:latin typeface="Times New Roman"/>
                <a:ea typeface="Times New Roman"/>
                <a:cs typeface="Times New Roman"/>
                <a:sym typeface="Times New Roman"/>
              </a:rPr>
              <a:t>using System;</a:t>
            </a:r>
            <a:endParaRPr sz="600">
              <a:solidFill>
                <a:srgbClr val="E5E0DF"/>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600">
                <a:solidFill>
                  <a:srgbClr val="E5E0DF"/>
                </a:solidFill>
                <a:latin typeface="Times New Roman"/>
                <a:ea typeface="Times New Roman"/>
                <a:cs typeface="Times New Roman"/>
                <a:sym typeface="Times New Roman"/>
              </a:rPr>
              <a:t>using System.ComponentModel.DataAnnotations;</a:t>
            </a:r>
            <a:endParaRPr sz="600">
              <a:solidFill>
                <a:srgbClr val="E5E0DF"/>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600">
                <a:solidFill>
                  <a:srgbClr val="E5E0DF"/>
                </a:solidFill>
                <a:latin typeface="Times New Roman"/>
                <a:ea typeface="Times New Roman"/>
                <a:cs typeface="Times New Roman"/>
                <a:sym typeface="Times New Roman"/>
              </a:rPr>
              <a:t>using System.ComponentModel.DataAnnotations.Schema;</a:t>
            </a:r>
            <a:endParaRPr sz="600">
              <a:solidFill>
                <a:srgbClr val="E5E0DF"/>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600">
                <a:solidFill>
                  <a:srgbClr val="E5E0DF"/>
                </a:solidFill>
                <a:latin typeface="Times New Roman"/>
                <a:ea typeface="Times New Roman"/>
                <a:cs typeface="Times New Roman"/>
                <a:sym typeface="Times New Roman"/>
              </a:rPr>
              <a:t>namespace HRMS.Backend.Models</a:t>
            </a:r>
            <a:endParaRPr sz="600">
              <a:solidFill>
                <a:srgbClr val="E5E0DF"/>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600">
                <a:solidFill>
                  <a:srgbClr val="E5E0DF"/>
                </a:solidFill>
                <a:latin typeface="Times New Roman"/>
                <a:ea typeface="Times New Roman"/>
                <a:cs typeface="Times New Roman"/>
                <a:sym typeface="Times New Roman"/>
              </a:rPr>
              <a:t>    [Table("employees")]</a:t>
            </a:r>
            <a:endParaRPr sz="600">
              <a:solidFill>
                <a:srgbClr val="E5E0DF"/>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600">
                <a:solidFill>
                  <a:srgbClr val="E5E0DF"/>
                </a:solidFill>
                <a:latin typeface="Times New Roman"/>
                <a:ea typeface="Times New Roman"/>
                <a:cs typeface="Times New Roman"/>
                <a:sym typeface="Times New Roman"/>
              </a:rPr>
              <a:t>    public class Employee</a:t>
            </a:r>
            <a:endParaRPr sz="600">
              <a:solidFill>
                <a:srgbClr val="E5E0DF"/>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600">
                <a:solidFill>
                  <a:srgbClr val="E5E0DF"/>
                </a:solidFill>
                <a:latin typeface="Times New Roman"/>
                <a:ea typeface="Times New Roman"/>
                <a:cs typeface="Times New Roman"/>
                <a:sym typeface="Times New Roman"/>
              </a:rPr>
              <a:t>    {[Key]</a:t>
            </a:r>
            <a:endParaRPr sz="600">
              <a:solidFill>
                <a:srgbClr val="E5E0DF"/>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600">
                <a:solidFill>
                  <a:srgbClr val="E5E0DF"/>
                </a:solidFill>
                <a:latin typeface="Times New Roman"/>
                <a:ea typeface="Times New Roman"/>
                <a:cs typeface="Times New Roman"/>
                <a:sym typeface="Times New Roman"/>
              </a:rPr>
              <a:t>        [Column("id")]</a:t>
            </a:r>
            <a:endParaRPr sz="600">
              <a:solidFill>
                <a:srgbClr val="E5E0DF"/>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600">
                <a:solidFill>
                  <a:srgbClr val="E5E0DF"/>
                </a:solidFill>
                <a:latin typeface="Times New Roman"/>
                <a:ea typeface="Times New Roman"/>
                <a:cs typeface="Times New Roman"/>
                <a:sym typeface="Times New Roman"/>
              </a:rPr>
              <a:t>        public Guid EmployeeID { get; set; } = Guid.NewGuid();</a:t>
            </a:r>
            <a:endParaRPr sz="600">
              <a:solidFill>
                <a:srgbClr val="E5E0DF"/>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600">
                <a:solidFill>
                  <a:srgbClr val="E5E0DF"/>
                </a:solidFill>
                <a:latin typeface="Times New Roman"/>
                <a:ea typeface="Times New Roman"/>
                <a:cs typeface="Times New Roman"/>
                <a:sym typeface="Times New Roman"/>
              </a:rPr>
              <a:t>        // FKs</a:t>
            </a:r>
            <a:endParaRPr sz="600">
              <a:solidFill>
                <a:srgbClr val="E5E0DF"/>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600">
                <a:solidFill>
                  <a:srgbClr val="E5E0DF"/>
                </a:solidFill>
                <a:latin typeface="Times New Roman"/>
                <a:ea typeface="Times New Roman"/>
                <a:cs typeface="Times New Roman"/>
                <a:sym typeface="Times New Roman"/>
              </a:rPr>
              <a:t>        [Column("department_id")]</a:t>
            </a:r>
            <a:endParaRPr sz="600">
              <a:solidFill>
                <a:srgbClr val="E5E0DF"/>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600">
                <a:solidFill>
                  <a:srgbClr val="E5E0DF"/>
                </a:solidFill>
                <a:latin typeface="Times New Roman"/>
                <a:ea typeface="Times New Roman"/>
                <a:cs typeface="Times New Roman"/>
                <a:sym typeface="Times New Roman"/>
              </a:rPr>
              <a:t>        public Guid? DepartmentId { get; set; }   // ← now nullable</a:t>
            </a:r>
            <a:endParaRPr sz="600">
              <a:solidFill>
                <a:srgbClr val="E5E0DF"/>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600">
                <a:solidFill>
                  <a:srgbClr val="E5E0DF"/>
                </a:solidFill>
                <a:latin typeface="Times New Roman"/>
                <a:ea typeface="Times New Roman"/>
                <a:cs typeface="Times New Roman"/>
                <a:sym typeface="Times New Roman"/>
              </a:rPr>
              <a:t>        [Required]</a:t>
            </a:r>
            <a:endParaRPr sz="600">
              <a:solidFill>
                <a:srgbClr val="E5E0DF"/>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600">
                <a:solidFill>
                  <a:srgbClr val="E5E0DF"/>
                </a:solidFill>
                <a:latin typeface="Times New Roman"/>
                <a:ea typeface="Times New Roman"/>
                <a:cs typeface="Times New Roman"/>
                <a:sym typeface="Times New Roman"/>
              </a:rPr>
              <a:t>        [Column("organization_id")]</a:t>
            </a:r>
            <a:endParaRPr sz="600">
              <a:solidFill>
                <a:srgbClr val="E5E0DF"/>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600">
                <a:solidFill>
                  <a:srgbClr val="E5E0DF"/>
                </a:solidFill>
                <a:latin typeface="Times New Roman"/>
                <a:ea typeface="Times New Roman"/>
                <a:cs typeface="Times New Roman"/>
                <a:sym typeface="Times New Roman"/>
              </a:rPr>
              <a:t>        public Guid OrganizationId { get; set; }</a:t>
            </a:r>
            <a:endParaRPr sz="600">
              <a:solidFill>
                <a:srgbClr val="E5E0DF"/>
              </a:solidFill>
              <a:latin typeface="Times New Roman"/>
              <a:ea typeface="Times New Roman"/>
              <a:cs typeface="Times New Roman"/>
              <a:sym typeface="Times New Roman"/>
            </a:endParaRPr>
          </a:p>
          <a:p>
            <a:pPr indent="0" lvl="0" marL="0" rtl="0" algn="l">
              <a:lnSpc>
                <a:spcPct val="150000"/>
              </a:lnSpc>
              <a:spcBef>
                <a:spcPts val="1200"/>
              </a:spcBef>
              <a:spcAft>
                <a:spcPts val="0"/>
              </a:spcAft>
              <a:buNone/>
            </a:pPr>
            <a:r>
              <a:rPr lang="en-US" sz="600">
                <a:solidFill>
                  <a:srgbClr val="E5E0DF"/>
                </a:solidFill>
                <a:latin typeface="Times New Roman"/>
                <a:ea typeface="Times New Roman"/>
                <a:cs typeface="Times New Roman"/>
                <a:sym typeface="Times New Roman"/>
              </a:rPr>
              <a:t>        [Required]</a:t>
            </a:r>
            <a:endParaRPr sz="600">
              <a:solidFill>
                <a:srgbClr val="E5E0DF"/>
              </a:solidFill>
              <a:latin typeface="Times New Roman"/>
              <a:ea typeface="Times New Roman"/>
              <a:cs typeface="Times New Roman"/>
              <a:sym typeface="Times New Roman"/>
            </a:endParaRPr>
          </a:p>
          <a:p>
            <a:pPr indent="0" lvl="0" marL="0" rtl="0" algn="l">
              <a:lnSpc>
                <a:spcPct val="150000"/>
              </a:lnSpc>
              <a:spcBef>
                <a:spcPts val="1200"/>
              </a:spcBef>
              <a:spcAft>
                <a:spcPts val="0"/>
              </a:spcAft>
              <a:buNone/>
            </a:pPr>
            <a:r>
              <a:rPr lang="en-US" sz="600">
                <a:solidFill>
                  <a:srgbClr val="E5E0DF"/>
                </a:solidFill>
                <a:latin typeface="Times New Roman"/>
                <a:ea typeface="Times New Roman"/>
                <a:cs typeface="Times New Roman"/>
                <a:sym typeface="Times New Roman"/>
              </a:rPr>
              <a:t>        [Column("tenant_id")] </a:t>
            </a:r>
            <a:endParaRPr sz="600">
              <a:solidFill>
                <a:srgbClr val="E5E0DF"/>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600">
                <a:solidFill>
                  <a:srgbClr val="E5E0DF"/>
                </a:solidFill>
                <a:latin typeface="Times New Roman"/>
                <a:ea typeface="Times New Roman"/>
                <a:cs typeface="Times New Roman"/>
                <a:sym typeface="Times New Roman"/>
              </a:rPr>
              <a:t>       public Guid TenantId { get; set; }</a:t>
            </a:r>
            <a:endParaRPr sz="600">
              <a:solidFill>
                <a:srgbClr val="E5E0DF"/>
              </a:solidFill>
              <a:latin typeface="Times New Roman"/>
              <a:ea typeface="Times New Roman"/>
              <a:cs typeface="Times New Roman"/>
              <a:sym typeface="Times New Roman"/>
            </a:endParaRPr>
          </a:p>
          <a:p>
            <a:pPr indent="0" lvl="0" marL="0" rtl="0" algn="l">
              <a:lnSpc>
                <a:spcPct val="150000"/>
              </a:lnSpc>
              <a:spcBef>
                <a:spcPts val="1200"/>
              </a:spcBef>
              <a:spcAft>
                <a:spcPts val="0"/>
              </a:spcAft>
              <a:buNone/>
            </a:pPr>
            <a:r>
              <a:rPr lang="en-US" sz="600">
                <a:solidFill>
                  <a:srgbClr val="E5E0DF"/>
                </a:solidFill>
                <a:latin typeface="Times New Roman"/>
                <a:ea typeface="Times New Roman"/>
                <a:cs typeface="Times New Roman"/>
                <a:sym typeface="Times New Roman"/>
              </a:rPr>
              <a:t>        [Required]</a:t>
            </a:r>
            <a:endParaRPr sz="600">
              <a:solidFill>
                <a:srgbClr val="E5E0DF"/>
              </a:solidFill>
              <a:latin typeface="Times New Roman"/>
              <a:ea typeface="Times New Roman"/>
              <a:cs typeface="Times New Roman"/>
              <a:sym typeface="Times New Roman"/>
            </a:endParaRPr>
          </a:p>
          <a:p>
            <a:pPr indent="0" lvl="0" marL="0" rtl="0" algn="l">
              <a:lnSpc>
                <a:spcPct val="150000"/>
              </a:lnSpc>
              <a:spcBef>
                <a:spcPts val="1200"/>
              </a:spcBef>
              <a:spcAft>
                <a:spcPts val="0"/>
              </a:spcAft>
              <a:buNone/>
            </a:pPr>
            <a:r>
              <a:rPr lang="en-US" sz="600">
                <a:solidFill>
                  <a:srgbClr val="E5E0DF"/>
                </a:solidFill>
                <a:latin typeface="Times New Roman"/>
                <a:ea typeface="Times New Roman"/>
                <a:cs typeface="Times New Roman"/>
                <a:sym typeface="Times New Roman"/>
              </a:rPr>
              <a:t>        [Column("role_id")]</a:t>
            </a:r>
            <a:endParaRPr sz="600">
              <a:solidFill>
                <a:srgbClr val="E5E0DF"/>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600">
                <a:solidFill>
                  <a:srgbClr val="E5E0DF"/>
                </a:solidFill>
                <a:latin typeface="Times New Roman"/>
                <a:ea typeface="Times New Roman"/>
                <a:cs typeface="Times New Roman"/>
                <a:sym typeface="Times New Roman"/>
              </a:rPr>
              <a:t>         public Guid RoleId { get; set; }</a:t>
            </a:r>
            <a:endParaRPr sz="600">
              <a:solidFill>
                <a:srgbClr val="E5E0DF"/>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600">
                <a:solidFill>
                  <a:srgbClr val="E5E0DF"/>
                </a:solidFill>
                <a:latin typeface="Times New Roman"/>
                <a:ea typeface="Times New Roman"/>
                <a:cs typeface="Times New Roman"/>
                <a:sym typeface="Times New Roman"/>
              </a:rPr>
              <a:t>        // Auth / access</a:t>
            </a:r>
            <a:endParaRPr sz="600">
              <a:solidFill>
                <a:srgbClr val="E5E0DF"/>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600">
                <a:solidFill>
                  <a:srgbClr val="E5E0DF"/>
                </a:solidFill>
                <a:latin typeface="Times New Roman"/>
                <a:ea typeface="Times New Roman"/>
                <a:cs typeface="Times New Roman"/>
                <a:sym typeface="Times New Roman"/>
              </a:rPr>
              <a:t>        [Required, MaxLength(100)]</a:t>
            </a:r>
            <a:endParaRPr sz="600">
              <a:solidFill>
                <a:srgbClr val="E5E0DF"/>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600">
                <a:solidFill>
                  <a:srgbClr val="E5E0DF"/>
                </a:solidFill>
                <a:latin typeface="Times New Roman"/>
                <a:ea typeface="Times New Roman"/>
                <a:cs typeface="Times New Roman"/>
                <a:sym typeface="Times New Roman"/>
              </a:rPr>
              <a:t>        [Column("username")]</a:t>
            </a:r>
            <a:endParaRPr sz="600">
              <a:solidFill>
                <a:srgbClr val="E5E0DF"/>
              </a:solidFill>
              <a:latin typeface="Times New Roman"/>
              <a:ea typeface="Times New Roman"/>
              <a:cs typeface="Times New Roman"/>
              <a:sym typeface="Times New Roman"/>
            </a:endParaRPr>
          </a:p>
          <a:p>
            <a:pPr indent="0" lvl="0" marL="0" rtl="0" algn="l">
              <a:lnSpc>
                <a:spcPct val="150000"/>
              </a:lnSpc>
              <a:spcBef>
                <a:spcPts val="1200"/>
              </a:spcBef>
              <a:spcAft>
                <a:spcPts val="1200"/>
              </a:spcAft>
              <a:buNone/>
            </a:pPr>
            <a:r>
              <a:rPr lang="en-US" sz="600">
                <a:solidFill>
                  <a:srgbClr val="E5E0DF"/>
                </a:solidFill>
                <a:latin typeface="Times New Roman"/>
                <a:ea typeface="Times New Roman"/>
                <a:cs typeface="Times New Roman"/>
                <a:sym typeface="Times New Roman"/>
              </a:rPr>
              <a:t>        public string Username { get; set; } = string.Empty;    // ← required</a:t>
            </a:r>
            <a:endParaRPr sz="600">
              <a:solidFill>
                <a:srgbClr val="E5E0DF"/>
              </a:solidFill>
              <a:latin typeface="Times New Roman"/>
              <a:ea typeface="Times New Roman"/>
              <a:cs typeface="Times New Roman"/>
              <a:sym typeface="Times New Roman"/>
            </a:endParaRPr>
          </a:p>
        </p:txBody>
      </p:sp>
      <p:sp>
        <p:nvSpPr>
          <p:cNvPr id="189" name="Google Shape;189;p25"/>
          <p:cNvSpPr/>
          <p:nvPr/>
        </p:nvSpPr>
        <p:spPr>
          <a:xfrm>
            <a:off x="11197950" y="1452875"/>
            <a:ext cx="2616300" cy="64269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1200"/>
              </a:spcBef>
              <a:spcAft>
                <a:spcPts val="0"/>
              </a:spcAft>
              <a:buClr>
                <a:schemeClr val="dk1"/>
              </a:buClr>
              <a:buSzPts val="1100"/>
              <a:buFont typeface="Arial"/>
              <a:buNone/>
            </a:pPr>
            <a:r>
              <a:rPr lang="en-US" sz="600">
                <a:solidFill>
                  <a:srgbClr val="E5E0DF"/>
                </a:solidFill>
                <a:latin typeface="Times New Roman"/>
                <a:ea typeface="Times New Roman"/>
                <a:cs typeface="Times New Roman"/>
                <a:sym typeface="Times New Roman"/>
              </a:rPr>
              <a:t>        [Required]</a:t>
            </a:r>
            <a:r>
              <a:rPr lang="en-US" sz="600">
                <a:solidFill>
                  <a:srgbClr val="E5E0DF"/>
                </a:solidFill>
                <a:latin typeface="Times New Roman"/>
                <a:ea typeface="Times New Roman"/>
                <a:cs typeface="Times New Roman"/>
                <a:sym typeface="Times New Roman"/>
              </a:rPr>
              <a:t> </a:t>
            </a:r>
            <a:r>
              <a:rPr lang="en-US" sz="600">
                <a:solidFill>
                  <a:srgbClr val="E5E0DF"/>
                </a:solidFill>
                <a:latin typeface="Times New Roman"/>
                <a:ea typeface="Times New Roman"/>
                <a:cs typeface="Times New Roman"/>
                <a:sym typeface="Times New Roman"/>
              </a:rPr>
              <a:t>[Column("bank_details")]</a:t>
            </a:r>
            <a:endParaRPr sz="600">
              <a:solidFill>
                <a:srgbClr val="E5E0DF"/>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600">
                <a:solidFill>
                  <a:srgbClr val="E5E0DF"/>
                </a:solidFill>
                <a:latin typeface="Times New Roman"/>
                <a:ea typeface="Times New Roman"/>
                <a:cs typeface="Times New Roman"/>
                <a:sym typeface="Times New Roman"/>
              </a:rPr>
              <a:t>        public string BankDetails { get; set; } = "{}";</a:t>
            </a:r>
            <a:endParaRPr sz="600">
              <a:solidFill>
                <a:srgbClr val="E5E0DF"/>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600">
                <a:solidFill>
                  <a:srgbClr val="E5E0DF"/>
                </a:solidFill>
                <a:latin typeface="Times New Roman"/>
                <a:ea typeface="Times New Roman"/>
                <a:cs typeface="Times New Roman"/>
                <a:sym typeface="Times New Roman"/>
              </a:rPr>
              <a:t>        [Required] [Column("custom_fields")]</a:t>
            </a:r>
            <a:endParaRPr sz="600">
              <a:solidFill>
                <a:srgbClr val="E5E0DF"/>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600">
                <a:solidFill>
                  <a:srgbClr val="E5E0DF"/>
                </a:solidFill>
                <a:latin typeface="Times New Roman"/>
                <a:ea typeface="Times New Roman"/>
                <a:cs typeface="Times New Roman"/>
                <a:sym typeface="Times New Roman"/>
              </a:rPr>
              <a:t>        public string CustomFields { get; set; } = "{}";</a:t>
            </a:r>
            <a:endParaRPr sz="600">
              <a:solidFill>
                <a:srgbClr val="E5E0DF"/>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600">
                <a:solidFill>
                  <a:srgbClr val="E5E0DF"/>
                </a:solidFill>
                <a:latin typeface="Times New Roman"/>
                <a:ea typeface="Times New Roman"/>
                <a:cs typeface="Times New Roman"/>
                <a:sym typeface="Times New Roman"/>
              </a:rPr>
              <a:t> </a:t>
            </a:r>
            <a:r>
              <a:rPr lang="en-US" sz="600">
                <a:solidFill>
                  <a:srgbClr val="E5E0DF"/>
                </a:solidFill>
                <a:latin typeface="Times New Roman"/>
                <a:ea typeface="Times New Roman"/>
                <a:cs typeface="Times New Roman"/>
                <a:sym typeface="Times New Roman"/>
              </a:rPr>
              <a:t>      </a:t>
            </a:r>
            <a:r>
              <a:rPr lang="en-US" sz="600">
                <a:solidFill>
                  <a:srgbClr val="E5E0DF"/>
                </a:solidFill>
                <a:latin typeface="Times New Roman"/>
                <a:ea typeface="Times New Roman"/>
                <a:cs typeface="Times New Roman"/>
                <a:sym typeface="Times New Roman"/>
              </a:rPr>
              <a:t> [Column("benefits_enrollment")]</a:t>
            </a:r>
            <a:endParaRPr sz="600">
              <a:solidFill>
                <a:srgbClr val="E5E0DF"/>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600">
                <a:solidFill>
                  <a:srgbClr val="E5E0DF"/>
                </a:solidFill>
                <a:latin typeface="Times New Roman"/>
                <a:ea typeface="Times New Roman"/>
                <a:cs typeface="Times New Roman"/>
                <a:sym typeface="Times New Roman"/>
              </a:rPr>
              <a:t>        public string? BenefitsEnrollment { get; set; } // ← now nullable</a:t>
            </a:r>
            <a:endParaRPr sz="600">
              <a:solidFill>
                <a:srgbClr val="E5E0DF"/>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600">
                <a:solidFill>
                  <a:srgbClr val="E5E0DF"/>
                </a:solidFill>
                <a:latin typeface="Times New Roman"/>
                <a:ea typeface="Times New Roman"/>
                <a:cs typeface="Times New Roman"/>
                <a:sym typeface="Times New Roman"/>
              </a:rPr>
              <a:t>        [Column("shift_details")]</a:t>
            </a:r>
            <a:endParaRPr sz="600">
              <a:solidFill>
                <a:srgbClr val="E5E0DF"/>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600">
                <a:solidFill>
                  <a:srgbClr val="E5E0DF"/>
                </a:solidFill>
                <a:latin typeface="Times New Roman"/>
                <a:ea typeface="Times New Roman"/>
                <a:cs typeface="Times New Roman"/>
                <a:sym typeface="Times New Roman"/>
              </a:rPr>
              <a:t>        public string? ShiftDetails { get; set; }       // ← now nullable</a:t>
            </a:r>
            <a:endParaRPr sz="600">
              <a:solidFill>
                <a:srgbClr val="E5E0DF"/>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600">
                <a:solidFill>
                  <a:srgbClr val="E5E0DF"/>
                </a:solidFill>
                <a:latin typeface="Times New Roman"/>
                <a:ea typeface="Times New Roman"/>
                <a:cs typeface="Times New Roman"/>
                <a:sym typeface="Times New Roman"/>
              </a:rPr>
              <a:t>        [Required] [Column("created_at")]</a:t>
            </a:r>
            <a:endParaRPr sz="600">
              <a:solidFill>
                <a:srgbClr val="E5E0DF"/>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600">
                <a:solidFill>
                  <a:srgbClr val="E5E0DF"/>
                </a:solidFill>
                <a:latin typeface="Times New Roman"/>
                <a:ea typeface="Times New Roman"/>
                <a:cs typeface="Times New Roman"/>
                <a:sym typeface="Times New Roman"/>
              </a:rPr>
              <a:t>        public DateTime CreatedAt { get; set; } = DateTime.UtcNow;</a:t>
            </a:r>
            <a:endParaRPr sz="600">
              <a:solidFill>
                <a:srgbClr val="E5E0DF"/>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600">
                <a:solidFill>
                  <a:srgbClr val="E5E0DF"/>
                </a:solidFill>
                <a:latin typeface="Times New Roman"/>
                <a:ea typeface="Times New Roman"/>
                <a:cs typeface="Times New Roman"/>
                <a:sym typeface="Times New Roman"/>
              </a:rPr>
              <a:t>        [Required] [Column("updated_at")]</a:t>
            </a:r>
            <a:endParaRPr sz="600">
              <a:solidFill>
                <a:srgbClr val="E5E0DF"/>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600">
                <a:solidFill>
                  <a:srgbClr val="E5E0DF"/>
                </a:solidFill>
                <a:latin typeface="Times New Roman"/>
                <a:ea typeface="Times New Roman"/>
                <a:cs typeface="Times New Roman"/>
                <a:sym typeface="Times New Roman"/>
              </a:rPr>
              <a:t>        public DateTime UpdatedAt { get; set; } = DateTime.UtcNow;</a:t>
            </a:r>
            <a:endParaRPr sz="600">
              <a:solidFill>
                <a:srgbClr val="E5E0DF"/>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600">
                <a:solidFill>
                  <a:srgbClr val="E5E0DF"/>
                </a:solidFill>
                <a:latin typeface="Times New Roman"/>
                <a:ea typeface="Times New Roman"/>
                <a:cs typeface="Times New Roman"/>
                <a:sym typeface="Times New Roman"/>
              </a:rPr>
              <a:t>        [Column("terminated_date")]</a:t>
            </a:r>
            <a:endParaRPr sz="600">
              <a:solidFill>
                <a:srgbClr val="E5E0DF"/>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600">
                <a:solidFill>
                  <a:srgbClr val="E5E0DF"/>
                </a:solidFill>
                <a:latin typeface="Times New Roman"/>
                <a:ea typeface="Times New Roman"/>
                <a:cs typeface="Times New Roman"/>
                <a:sym typeface="Times New Roman"/>
              </a:rPr>
              <a:t>        public DateTime? TerminatedDate { get; set; }</a:t>
            </a:r>
            <a:endParaRPr sz="600">
              <a:solidFill>
                <a:srgbClr val="E5E0DF"/>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600">
                <a:solidFill>
                  <a:srgbClr val="E5E0DF"/>
                </a:solidFill>
                <a:latin typeface="Times New Roman"/>
                <a:ea typeface="Times New Roman"/>
                <a:cs typeface="Times New Roman"/>
                <a:sym typeface="Times New Roman"/>
              </a:rPr>
              <a:t>        [Column("leave_credit")]</a:t>
            </a:r>
            <a:endParaRPr sz="600">
              <a:solidFill>
                <a:srgbClr val="E5E0DF"/>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600">
                <a:solidFill>
                  <a:srgbClr val="E5E0DF"/>
                </a:solidFill>
                <a:latin typeface="Times New Roman"/>
                <a:ea typeface="Times New Roman"/>
                <a:cs typeface="Times New Roman"/>
                <a:sym typeface="Times New Roman"/>
              </a:rPr>
              <a:t>        public decimal LeaveCredit { get; set; } = 20; // default 20 days</a:t>
            </a:r>
            <a:endParaRPr sz="600">
              <a:solidFill>
                <a:srgbClr val="E5E0DF"/>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600">
                <a:solidFill>
                  <a:srgbClr val="E5E0DF"/>
                </a:solidFill>
                <a:latin typeface="Times New Roman"/>
                <a:ea typeface="Times New Roman"/>
                <a:cs typeface="Times New Roman"/>
                <a:sym typeface="Times New Roman"/>
              </a:rPr>
              <a:t>        public DateTime LastCreditUpdate { get; set; } = DateTime.UtcNow;</a:t>
            </a:r>
            <a:endParaRPr sz="600">
              <a:solidFill>
                <a:srgbClr val="E5E0DF"/>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600">
                <a:solidFill>
                  <a:srgbClr val="E5E0DF"/>
                </a:solidFill>
                <a:latin typeface="Times New Roman"/>
                <a:ea typeface="Times New Roman"/>
                <a:cs typeface="Times New Roman"/>
                <a:sym typeface="Times New Roman"/>
              </a:rPr>
              <a:t>        public Tenant Tenant { get; set; } = null!;</a:t>
            </a:r>
            <a:endParaRPr sz="600">
              <a:solidFill>
                <a:srgbClr val="E5E0DF"/>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600">
                <a:solidFill>
                  <a:srgbClr val="E5E0DF"/>
                </a:solidFill>
                <a:latin typeface="Times New Roman"/>
                <a:ea typeface="Times New Roman"/>
                <a:cs typeface="Times New Roman"/>
                <a:sym typeface="Times New Roman"/>
              </a:rPr>
              <a:t>        public Organization Organization { get; set; } = null!;</a:t>
            </a:r>
            <a:endParaRPr sz="600">
              <a:solidFill>
                <a:srgbClr val="E5E0DF"/>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600">
                <a:solidFill>
                  <a:srgbClr val="E5E0DF"/>
                </a:solidFill>
                <a:latin typeface="Times New Roman"/>
                <a:ea typeface="Times New Roman"/>
                <a:cs typeface="Times New Roman"/>
                <a:sym typeface="Times New Roman"/>
              </a:rPr>
              <a:t>        public Department? Department { get; set; } // optional now</a:t>
            </a:r>
            <a:endParaRPr sz="600">
              <a:solidFill>
                <a:srgbClr val="E5E0DF"/>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600">
                <a:solidFill>
                  <a:srgbClr val="E5E0DF"/>
                </a:solidFill>
                <a:latin typeface="Times New Roman"/>
                <a:ea typeface="Times New Roman"/>
                <a:cs typeface="Times New Roman"/>
                <a:sym typeface="Times New Roman"/>
              </a:rPr>
              <a:t>        public Role Role { get; set; } = null!;</a:t>
            </a:r>
            <a:endParaRPr sz="600">
              <a:solidFill>
                <a:srgbClr val="E5E0DF"/>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600">
                <a:solidFill>
                  <a:srgbClr val="E5E0DF"/>
                </a:solidFill>
                <a:latin typeface="Times New Roman"/>
                <a:ea typeface="Times New Roman"/>
                <a:cs typeface="Times New Roman"/>
                <a:sym typeface="Times New Roman"/>
              </a:rPr>
              <a:t>        public ICollection&lt;Attendance&gt; Attendances { get; set; } = new List&lt;Attendance&gt;();</a:t>
            </a:r>
            <a:endParaRPr sz="600">
              <a:solidFill>
                <a:srgbClr val="E5E0DF"/>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600">
                <a:solidFill>
                  <a:srgbClr val="E5E0DF"/>
                </a:solidFill>
                <a:latin typeface="Times New Roman"/>
                <a:ea typeface="Times New Roman"/>
                <a:cs typeface="Times New Roman"/>
                <a:sym typeface="Times New Roman"/>
              </a:rPr>
              <a:t>    }</a:t>
            </a:r>
            <a:endParaRPr sz="600">
              <a:solidFill>
                <a:srgbClr val="E5E0DF"/>
              </a:solidFill>
              <a:latin typeface="Times New Roman"/>
              <a:ea typeface="Times New Roman"/>
              <a:cs typeface="Times New Roman"/>
              <a:sym typeface="Times New Roman"/>
            </a:endParaRPr>
          </a:p>
          <a:p>
            <a:pPr indent="0" lvl="0" marL="0" rtl="0" algn="l">
              <a:lnSpc>
                <a:spcPct val="150000"/>
              </a:lnSpc>
              <a:spcBef>
                <a:spcPts val="1200"/>
              </a:spcBef>
              <a:spcAft>
                <a:spcPts val="1200"/>
              </a:spcAft>
              <a:buNone/>
            </a:pPr>
            <a:r>
              <a:rPr lang="en-US" sz="600">
                <a:solidFill>
                  <a:srgbClr val="E5E0DF"/>
                </a:solidFill>
                <a:latin typeface="Times New Roman"/>
                <a:ea typeface="Times New Roman"/>
                <a:cs typeface="Times New Roman"/>
                <a:sym typeface="Times New Roman"/>
              </a:rPr>
              <a:t>}</a:t>
            </a:r>
            <a:endParaRPr sz="600">
              <a:solidFill>
                <a:srgbClr val="E5E0DF"/>
              </a:solidFill>
              <a:latin typeface="Times New Roman"/>
              <a:ea typeface="Times New Roman"/>
              <a:cs typeface="Times New Roman"/>
              <a:sym typeface="Times New Roman"/>
            </a:endParaRPr>
          </a:p>
        </p:txBody>
      </p:sp>
      <p:sp>
        <p:nvSpPr>
          <p:cNvPr id="190" name="Google Shape;190;p25"/>
          <p:cNvSpPr/>
          <p:nvPr/>
        </p:nvSpPr>
        <p:spPr>
          <a:xfrm>
            <a:off x="7851650" y="1452875"/>
            <a:ext cx="2786700" cy="64269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1200"/>
              </a:spcBef>
              <a:spcAft>
                <a:spcPts val="0"/>
              </a:spcAft>
              <a:buClr>
                <a:schemeClr val="dk1"/>
              </a:buClr>
              <a:buSzPts val="1100"/>
              <a:buFont typeface="Arial"/>
              <a:buNone/>
            </a:pPr>
            <a:r>
              <a:rPr lang="en-US" sz="600">
                <a:solidFill>
                  <a:srgbClr val="E5E0DF"/>
                </a:solidFill>
                <a:latin typeface="Times New Roman"/>
                <a:ea typeface="Times New Roman"/>
                <a:cs typeface="Times New Roman"/>
                <a:sym typeface="Times New Roman"/>
              </a:rPr>
              <a:t>// Contact</a:t>
            </a:r>
            <a:endParaRPr sz="600">
              <a:solidFill>
                <a:srgbClr val="E5E0DF"/>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600">
                <a:solidFill>
                  <a:srgbClr val="E5E0DF"/>
                </a:solidFill>
                <a:latin typeface="Times New Roman"/>
                <a:ea typeface="Times New Roman"/>
                <a:cs typeface="Times New Roman"/>
                <a:sym typeface="Times New Roman"/>
              </a:rPr>
              <a:t>[Required, MaxLength(255)] [Column("email")]</a:t>
            </a:r>
            <a:endParaRPr sz="600">
              <a:solidFill>
                <a:srgbClr val="E5E0DF"/>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600">
                <a:solidFill>
                  <a:srgbClr val="E5E0DF"/>
                </a:solidFill>
                <a:latin typeface="Times New Roman"/>
                <a:ea typeface="Times New Roman"/>
                <a:cs typeface="Times New Roman"/>
                <a:sym typeface="Times New Roman"/>
              </a:rPr>
              <a:t>public string Email { get; set; } = string.Empty;</a:t>
            </a:r>
            <a:endParaRPr sz="600">
              <a:solidFill>
                <a:srgbClr val="E5E0DF"/>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600">
                <a:solidFill>
                  <a:srgbClr val="E5E0DF"/>
                </a:solidFill>
                <a:latin typeface="Times New Roman"/>
                <a:ea typeface="Times New Roman"/>
                <a:cs typeface="Times New Roman"/>
                <a:sym typeface="Times New Roman"/>
              </a:rPr>
              <a:t>[Required, MaxLength(50)] [Column("phone_number")]</a:t>
            </a:r>
            <a:endParaRPr sz="600">
              <a:solidFill>
                <a:srgbClr val="E5E0DF"/>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600">
                <a:solidFill>
                  <a:srgbClr val="E5E0DF"/>
                </a:solidFill>
                <a:latin typeface="Times New Roman"/>
                <a:ea typeface="Times New Roman"/>
                <a:cs typeface="Times New Roman"/>
                <a:sym typeface="Times New Roman"/>
              </a:rPr>
              <a:t>public string PhoneNumber { get; set; } = string.Empty;</a:t>
            </a:r>
            <a:endParaRPr sz="600">
              <a:solidFill>
                <a:srgbClr val="E5E0DF"/>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600">
                <a:solidFill>
                  <a:srgbClr val="E5E0DF"/>
                </a:solidFill>
                <a:latin typeface="Times New Roman"/>
                <a:ea typeface="Times New Roman"/>
                <a:cs typeface="Times New Roman"/>
                <a:sym typeface="Times New Roman"/>
              </a:rPr>
              <a:t>[Required, MaxLength(200)] [Column("emergency_contact_name")]</a:t>
            </a:r>
            <a:endParaRPr sz="600">
              <a:solidFill>
                <a:srgbClr val="E5E0DF"/>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600">
                <a:solidFill>
                  <a:srgbClr val="E5E0DF"/>
                </a:solidFill>
                <a:latin typeface="Times New Roman"/>
                <a:ea typeface="Times New Roman"/>
                <a:cs typeface="Times New Roman"/>
                <a:sym typeface="Times New Roman"/>
              </a:rPr>
              <a:t>public string EmergencyContactName { get; set; } = string.Empty;</a:t>
            </a:r>
            <a:endParaRPr sz="600">
              <a:solidFill>
                <a:srgbClr val="E5E0DF"/>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600">
                <a:solidFill>
                  <a:srgbClr val="E5E0DF"/>
                </a:solidFill>
                <a:latin typeface="Times New Roman"/>
                <a:ea typeface="Times New Roman"/>
                <a:cs typeface="Times New Roman"/>
                <a:sym typeface="Times New Roman"/>
              </a:rPr>
              <a:t>[Required, MaxLength(50)] [Column("emergency_contact_number")]</a:t>
            </a:r>
            <a:endParaRPr sz="600">
              <a:solidFill>
                <a:srgbClr val="E5E0DF"/>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600">
                <a:solidFill>
                  <a:srgbClr val="E5E0DF"/>
                </a:solidFill>
                <a:latin typeface="Times New Roman"/>
                <a:ea typeface="Times New Roman"/>
                <a:cs typeface="Times New Roman"/>
                <a:sym typeface="Times New Roman"/>
              </a:rPr>
              <a:t>public string EmergencyContactNumber { get; set; } = string.Empty;</a:t>
            </a:r>
            <a:endParaRPr sz="600">
              <a:solidFill>
                <a:srgbClr val="E5E0DF"/>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600">
                <a:solidFill>
                  <a:srgbClr val="E5E0DF"/>
                </a:solidFill>
                <a:latin typeface="Times New Roman"/>
                <a:ea typeface="Times New Roman"/>
                <a:cs typeface="Times New Roman"/>
                <a:sym typeface="Times New Roman"/>
              </a:rPr>
              <a:t>[Required, MaxLength(150)] [Column("job_title")]</a:t>
            </a:r>
            <a:endParaRPr sz="600">
              <a:solidFill>
                <a:srgbClr val="E5E0DF"/>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600">
                <a:solidFill>
                  <a:srgbClr val="E5E0DF"/>
                </a:solidFill>
                <a:latin typeface="Times New Roman"/>
                <a:ea typeface="Times New Roman"/>
                <a:cs typeface="Times New Roman"/>
                <a:sym typeface="Times New Roman"/>
              </a:rPr>
              <a:t>public string JobTitle { get; set; } = string.Empty;</a:t>
            </a:r>
            <a:endParaRPr sz="600">
              <a:solidFill>
                <a:srgbClr val="E5E0DF"/>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600">
                <a:solidFill>
                  <a:srgbClr val="E5E0DF"/>
                </a:solidFill>
                <a:latin typeface="Times New Roman"/>
                <a:ea typeface="Times New Roman"/>
                <a:cs typeface="Times New Roman"/>
                <a:sym typeface="Times New Roman"/>
              </a:rPr>
              <a:t>[Required, MaxLength(100)] [Column("employee_education_status")]</a:t>
            </a:r>
            <a:endParaRPr sz="600">
              <a:solidFill>
                <a:srgbClr val="E5E0DF"/>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600">
                <a:solidFill>
                  <a:srgbClr val="E5E0DF"/>
                </a:solidFill>
                <a:latin typeface="Times New Roman"/>
                <a:ea typeface="Times New Roman"/>
                <a:cs typeface="Times New Roman"/>
                <a:sym typeface="Times New Roman"/>
              </a:rPr>
              <a:t>public string EmployeeEducationStatus { get; set; } = string.Empty;</a:t>
            </a:r>
            <a:endParaRPr sz="600">
              <a:solidFill>
                <a:srgbClr val="E5E0DF"/>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600">
                <a:solidFill>
                  <a:srgbClr val="E5E0DF"/>
                </a:solidFill>
                <a:latin typeface="Times New Roman"/>
                <a:ea typeface="Times New Roman"/>
                <a:cs typeface="Times New Roman"/>
                <a:sym typeface="Times New Roman"/>
              </a:rPr>
              <a:t>[Required, MaxLength(50)]</a:t>
            </a:r>
            <a:endParaRPr sz="600">
              <a:solidFill>
                <a:srgbClr val="E5E0DF"/>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600">
                <a:solidFill>
                  <a:srgbClr val="E5E0DF"/>
                </a:solidFill>
                <a:latin typeface="Times New Roman"/>
                <a:ea typeface="Times New Roman"/>
                <a:cs typeface="Times New Roman"/>
                <a:sym typeface="Times New Roman"/>
              </a:rPr>
              <a:t>[Column("employee_type")]</a:t>
            </a:r>
            <a:endParaRPr sz="600">
              <a:solidFill>
                <a:srgbClr val="E5E0DF"/>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600">
                <a:solidFill>
                  <a:srgbClr val="E5E0DF"/>
                </a:solidFill>
                <a:latin typeface="Times New Roman"/>
                <a:ea typeface="Times New Roman"/>
                <a:cs typeface="Times New Roman"/>
                <a:sym typeface="Times New Roman"/>
              </a:rPr>
              <a:t>public string EmploymentType { get; set; } = string.Empty;</a:t>
            </a:r>
            <a:endParaRPr sz="600">
              <a:solidFill>
                <a:srgbClr val="E5E0DF"/>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600">
                <a:solidFill>
                  <a:srgbClr val="E5E0DF"/>
                </a:solidFill>
                <a:latin typeface="Times New Roman"/>
                <a:ea typeface="Times New Roman"/>
                <a:cs typeface="Times New Roman"/>
                <a:sym typeface="Times New Roman"/>
              </a:rPr>
              <a:t>[Required, MaxLength(2083)] [Column("photo_url")]</a:t>
            </a:r>
            <a:endParaRPr sz="600">
              <a:solidFill>
                <a:srgbClr val="E5E0DF"/>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600">
                <a:solidFill>
                  <a:srgbClr val="E5E0DF"/>
                </a:solidFill>
                <a:latin typeface="Times New Roman"/>
                <a:ea typeface="Times New Roman"/>
                <a:cs typeface="Times New Roman"/>
                <a:sym typeface="Times New Roman"/>
              </a:rPr>
              <a:t>public string PhotoUrl { get; set; } = string.Empty;</a:t>
            </a:r>
            <a:endParaRPr sz="600">
              <a:solidFill>
                <a:srgbClr val="E5E0DF"/>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600">
                <a:solidFill>
                  <a:srgbClr val="E5E0DF"/>
                </a:solidFill>
                <a:latin typeface="Times New Roman"/>
                <a:ea typeface="Times New Roman"/>
                <a:cs typeface="Times New Roman"/>
                <a:sym typeface="Times New Roman"/>
              </a:rPr>
              <a:t>[Required] [Column("hire_date")]</a:t>
            </a:r>
            <a:endParaRPr sz="600">
              <a:solidFill>
                <a:srgbClr val="E5E0DF"/>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600">
                <a:solidFill>
                  <a:srgbClr val="E5E0DF"/>
                </a:solidFill>
                <a:latin typeface="Times New Roman"/>
                <a:ea typeface="Times New Roman"/>
                <a:cs typeface="Times New Roman"/>
                <a:sym typeface="Times New Roman"/>
              </a:rPr>
              <a:t>public DateTime HireDate { get; set; }</a:t>
            </a:r>
            <a:endParaRPr sz="600">
              <a:solidFill>
                <a:srgbClr val="E5E0DF"/>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600">
                <a:solidFill>
                  <a:srgbClr val="E5E0DF"/>
                </a:solidFill>
                <a:latin typeface="Times New Roman"/>
                <a:ea typeface="Times New Roman"/>
                <a:cs typeface="Times New Roman"/>
                <a:sym typeface="Times New Roman"/>
              </a:rPr>
              <a:t>[MaxLength(50)] [Column("employee_code")]</a:t>
            </a:r>
            <a:endParaRPr sz="600">
              <a:solidFill>
                <a:srgbClr val="E5E0DF"/>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600">
                <a:solidFill>
                  <a:srgbClr val="E5E0DF"/>
                </a:solidFill>
                <a:latin typeface="Times New Roman"/>
                <a:ea typeface="Times New Roman"/>
                <a:cs typeface="Times New Roman"/>
                <a:sym typeface="Times New Roman"/>
              </a:rPr>
              <a:t>public string? EmployeeCode { get; set; } // required via controller rule but will be auto-generated if missing</a:t>
            </a:r>
            <a:endParaRPr sz="600">
              <a:solidFill>
                <a:srgbClr val="E5E0DF"/>
              </a:solidFill>
              <a:latin typeface="Times New Roman"/>
              <a:ea typeface="Times New Roman"/>
              <a:cs typeface="Times New Roman"/>
              <a:sym typeface="Times New Roman"/>
            </a:endParaRPr>
          </a:p>
          <a:p>
            <a:pPr indent="0" lvl="0" marL="0" rtl="0" algn="l">
              <a:lnSpc>
                <a:spcPct val="150000"/>
              </a:lnSpc>
              <a:spcBef>
                <a:spcPts val="1200"/>
              </a:spcBef>
              <a:spcAft>
                <a:spcPts val="1200"/>
              </a:spcAft>
              <a:buClr>
                <a:schemeClr val="dk1"/>
              </a:buClr>
              <a:buSzPts val="1100"/>
              <a:buFont typeface="Arial"/>
              <a:buNone/>
            </a:pPr>
            <a:r>
              <a:t/>
            </a:r>
            <a:endParaRPr sz="600">
              <a:solidFill>
                <a:srgbClr val="E5E0DF"/>
              </a:solidFill>
              <a:latin typeface="Times New Roman"/>
              <a:ea typeface="Times New Roman"/>
              <a:cs typeface="Times New Roman"/>
              <a:sym typeface="Times New Roman"/>
            </a:endParaRPr>
          </a:p>
        </p:txBody>
      </p:sp>
      <p:sp>
        <p:nvSpPr>
          <p:cNvPr id="191" name="Google Shape;191;p25"/>
          <p:cNvSpPr/>
          <p:nvPr/>
        </p:nvSpPr>
        <p:spPr>
          <a:xfrm>
            <a:off x="4368750" y="1452875"/>
            <a:ext cx="2786700" cy="64269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1200"/>
              </a:spcBef>
              <a:spcAft>
                <a:spcPts val="0"/>
              </a:spcAft>
              <a:buClr>
                <a:schemeClr val="dk1"/>
              </a:buClr>
              <a:buSzPts val="1100"/>
              <a:buFont typeface="Arial"/>
              <a:buNone/>
            </a:pPr>
            <a:r>
              <a:rPr lang="en-US" sz="600">
                <a:solidFill>
                  <a:srgbClr val="E5E0DF"/>
                </a:solidFill>
                <a:latin typeface="Times New Roman"/>
                <a:ea typeface="Times New Roman"/>
                <a:cs typeface="Times New Roman"/>
                <a:sym typeface="Times New Roman"/>
              </a:rPr>
              <a:t>  // Auth / access</a:t>
            </a:r>
            <a:endParaRPr sz="600">
              <a:solidFill>
                <a:srgbClr val="E5E0DF"/>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600">
                <a:solidFill>
                  <a:srgbClr val="E5E0DF"/>
                </a:solidFill>
                <a:latin typeface="Times New Roman"/>
                <a:ea typeface="Times New Roman"/>
                <a:cs typeface="Times New Roman"/>
                <a:sym typeface="Times New Roman"/>
              </a:rPr>
              <a:t>        [Required, MaxLength(100)]</a:t>
            </a:r>
            <a:endParaRPr sz="600">
              <a:solidFill>
                <a:srgbClr val="E5E0DF"/>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600">
                <a:solidFill>
                  <a:srgbClr val="E5E0DF"/>
                </a:solidFill>
                <a:latin typeface="Times New Roman"/>
                <a:ea typeface="Times New Roman"/>
                <a:cs typeface="Times New Roman"/>
                <a:sym typeface="Times New Roman"/>
              </a:rPr>
              <a:t>        [Column("username")]</a:t>
            </a:r>
            <a:endParaRPr sz="600">
              <a:solidFill>
                <a:srgbClr val="E5E0DF"/>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600">
                <a:solidFill>
                  <a:srgbClr val="E5E0DF"/>
                </a:solidFill>
                <a:latin typeface="Times New Roman"/>
                <a:ea typeface="Times New Roman"/>
                <a:cs typeface="Times New Roman"/>
                <a:sym typeface="Times New Roman"/>
              </a:rPr>
              <a:t>        public string Username { get; set; } = string.Empty;    // ← required</a:t>
            </a:r>
            <a:endParaRPr sz="600">
              <a:solidFill>
                <a:srgbClr val="E5E0DF"/>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600">
                <a:solidFill>
                  <a:srgbClr val="E5E0DF"/>
                </a:solidFill>
                <a:latin typeface="Times New Roman"/>
                <a:ea typeface="Times New Roman"/>
                <a:cs typeface="Times New Roman"/>
                <a:sym typeface="Times New Roman"/>
              </a:rPr>
              <a:t>        [Required][Column("password_hash")]</a:t>
            </a:r>
            <a:endParaRPr sz="600">
              <a:solidFill>
                <a:srgbClr val="E5E0DF"/>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600">
                <a:solidFill>
                  <a:srgbClr val="E5E0DF"/>
                </a:solidFill>
                <a:latin typeface="Times New Roman"/>
                <a:ea typeface="Times New Roman"/>
                <a:cs typeface="Times New Roman"/>
                <a:sym typeface="Times New Roman"/>
              </a:rPr>
              <a:t>        public string PasswordHash { get; set; } = string.Empty; // ← required (store a hash, not plain text)</a:t>
            </a:r>
            <a:endParaRPr sz="600">
              <a:solidFill>
                <a:srgbClr val="E5E0DF"/>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600">
                <a:solidFill>
                  <a:srgbClr val="E5E0DF"/>
                </a:solidFill>
                <a:latin typeface="Times New Roman"/>
                <a:ea typeface="Times New Roman"/>
                <a:cs typeface="Times New Roman"/>
                <a:sym typeface="Times New Roman"/>
              </a:rPr>
              <a:t>        // Personal info</a:t>
            </a:r>
            <a:endParaRPr sz="600">
              <a:solidFill>
                <a:srgbClr val="E5E0DF"/>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600">
                <a:solidFill>
                  <a:srgbClr val="E5E0DF"/>
                </a:solidFill>
                <a:latin typeface="Times New Roman"/>
                <a:ea typeface="Times New Roman"/>
                <a:cs typeface="Times New Roman"/>
                <a:sym typeface="Times New Roman"/>
              </a:rPr>
              <a:t>        [Required, MaxLength(100)] [Column("first_name")]</a:t>
            </a:r>
            <a:endParaRPr sz="600">
              <a:solidFill>
                <a:srgbClr val="E5E0DF"/>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600">
                <a:solidFill>
                  <a:srgbClr val="E5E0DF"/>
                </a:solidFill>
                <a:latin typeface="Times New Roman"/>
                <a:ea typeface="Times New Roman"/>
                <a:cs typeface="Times New Roman"/>
                <a:sym typeface="Times New Roman"/>
              </a:rPr>
              <a:t>        public string FirstName { get; set; } = string.Empty;</a:t>
            </a:r>
            <a:endParaRPr sz="600">
              <a:solidFill>
                <a:srgbClr val="E5E0DF"/>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600">
                <a:solidFill>
                  <a:srgbClr val="E5E0DF"/>
                </a:solidFill>
                <a:latin typeface="Times New Roman"/>
                <a:ea typeface="Times New Roman"/>
                <a:cs typeface="Times New Roman"/>
                <a:sym typeface="Times New Roman"/>
              </a:rPr>
              <a:t>        [Required, MaxLength(100)] [Column("last_name")]</a:t>
            </a:r>
            <a:endParaRPr sz="600">
              <a:solidFill>
                <a:srgbClr val="E5E0DF"/>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600">
                <a:solidFill>
                  <a:srgbClr val="E5E0DF"/>
                </a:solidFill>
                <a:latin typeface="Times New Roman"/>
                <a:ea typeface="Times New Roman"/>
                <a:cs typeface="Times New Roman"/>
                <a:sym typeface="Times New Roman"/>
              </a:rPr>
              <a:t>        public string LastName { get; set; } = string.Empty;</a:t>
            </a:r>
            <a:endParaRPr sz="600">
              <a:solidFill>
                <a:srgbClr val="E5E0DF"/>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600">
                <a:solidFill>
                  <a:srgbClr val="E5E0DF"/>
                </a:solidFill>
                <a:latin typeface="Times New Roman"/>
                <a:ea typeface="Times New Roman"/>
                <a:cs typeface="Times New Roman"/>
                <a:sym typeface="Times New Roman"/>
              </a:rPr>
              <a:t>        [Required, MaxLength(50)] [Column("gender")]</a:t>
            </a:r>
            <a:endParaRPr sz="600">
              <a:solidFill>
                <a:srgbClr val="E5E0DF"/>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600">
                <a:solidFill>
                  <a:srgbClr val="E5E0DF"/>
                </a:solidFill>
                <a:latin typeface="Times New Roman"/>
                <a:ea typeface="Times New Roman"/>
                <a:cs typeface="Times New Roman"/>
                <a:sym typeface="Times New Roman"/>
              </a:rPr>
              <a:t>        public string Gender { get; set; } = string.Empty;</a:t>
            </a:r>
            <a:endParaRPr sz="600">
              <a:solidFill>
                <a:srgbClr val="E5E0DF"/>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600">
                <a:solidFill>
                  <a:srgbClr val="E5E0DF"/>
                </a:solidFill>
                <a:latin typeface="Times New Roman"/>
                <a:ea typeface="Times New Roman"/>
                <a:cs typeface="Times New Roman"/>
                <a:sym typeface="Times New Roman"/>
              </a:rPr>
              <a:t>        [Required, MaxLength(100)] [Column("nationality")]</a:t>
            </a:r>
            <a:endParaRPr sz="600">
              <a:solidFill>
                <a:srgbClr val="E5E0DF"/>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600">
                <a:solidFill>
                  <a:srgbClr val="E5E0DF"/>
                </a:solidFill>
                <a:latin typeface="Times New Roman"/>
                <a:ea typeface="Times New Roman"/>
                <a:cs typeface="Times New Roman"/>
                <a:sym typeface="Times New Roman"/>
              </a:rPr>
              <a:t>        public string Nationality { get; set; } = string.Empty;</a:t>
            </a:r>
            <a:endParaRPr sz="600">
              <a:solidFill>
                <a:srgbClr val="E5E0DF"/>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600">
                <a:solidFill>
                  <a:srgbClr val="E5E0DF"/>
                </a:solidFill>
                <a:latin typeface="Times New Roman"/>
                <a:ea typeface="Times New Roman"/>
                <a:cs typeface="Times New Roman"/>
                <a:sym typeface="Times New Roman"/>
              </a:rPr>
              <a:t>        [Required, MaxLength(50)] [Column("marital_status")]</a:t>
            </a:r>
            <a:endParaRPr sz="600">
              <a:solidFill>
                <a:srgbClr val="E5E0DF"/>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600">
                <a:solidFill>
                  <a:srgbClr val="E5E0DF"/>
                </a:solidFill>
                <a:latin typeface="Times New Roman"/>
                <a:ea typeface="Times New Roman"/>
                <a:cs typeface="Times New Roman"/>
                <a:sym typeface="Times New Roman"/>
              </a:rPr>
              <a:t>        public string MaritalStatus { get; set; } = string.Empty;</a:t>
            </a:r>
            <a:endParaRPr sz="600">
              <a:solidFill>
                <a:srgbClr val="E5E0DF"/>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600">
                <a:solidFill>
                  <a:srgbClr val="E5E0DF"/>
                </a:solidFill>
                <a:latin typeface="Times New Roman"/>
                <a:ea typeface="Times New Roman"/>
                <a:cs typeface="Times New Roman"/>
                <a:sym typeface="Times New Roman"/>
              </a:rPr>
              <a:t>        [Required, MaxLength(500)] [Column("address")]</a:t>
            </a:r>
            <a:endParaRPr sz="600">
              <a:solidFill>
                <a:srgbClr val="E5E0DF"/>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600">
                <a:solidFill>
                  <a:srgbClr val="E5E0DF"/>
                </a:solidFill>
                <a:latin typeface="Times New Roman"/>
                <a:ea typeface="Times New Roman"/>
                <a:cs typeface="Times New Roman"/>
                <a:sym typeface="Times New Roman"/>
              </a:rPr>
              <a:t>        public string Address { get; set; } = string.Empty;</a:t>
            </a:r>
            <a:endParaRPr sz="600">
              <a:solidFill>
                <a:srgbClr val="E5E0DF"/>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600">
                <a:solidFill>
                  <a:srgbClr val="E5E0DF"/>
                </a:solidFill>
                <a:latin typeface="Times New Roman"/>
                <a:ea typeface="Times New Roman"/>
                <a:cs typeface="Times New Roman"/>
                <a:sym typeface="Times New Roman"/>
              </a:rPr>
              <a:t>        [Required] [Column("date_of_birth")]</a:t>
            </a:r>
            <a:endParaRPr sz="600">
              <a:solidFill>
                <a:srgbClr val="E5E0DF"/>
              </a:solidFill>
              <a:latin typeface="Times New Roman"/>
              <a:ea typeface="Times New Roman"/>
              <a:cs typeface="Times New Roman"/>
              <a:sym typeface="Times New Roman"/>
            </a:endParaRPr>
          </a:p>
          <a:p>
            <a:pPr indent="0" lvl="0" marL="0" rtl="0" algn="l">
              <a:lnSpc>
                <a:spcPct val="150000"/>
              </a:lnSpc>
              <a:spcBef>
                <a:spcPts val="1200"/>
              </a:spcBef>
              <a:spcAft>
                <a:spcPts val="0"/>
              </a:spcAft>
              <a:buClr>
                <a:schemeClr val="dk1"/>
              </a:buClr>
              <a:buSzPts val="1100"/>
              <a:buFont typeface="Arial"/>
              <a:buNone/>
            </a:pPr>
            <a:r>
              <a:rPr lang="en-US" sz="600">
                <a:solidFill>
                  <a:srgbClr val="E5E0DF"/>
                </a:solidFill>
                <a:latin typeface="Times New Roman"/>
                <a:ea typeface="Times New Roman"/>
                <a:cs typeface="Times New Roman"/>
                <a:sym typeface="Times New Roman"/>
              </a:rPr>
              <a:t>        public DateTime DateOfBirth { get; set; }</a:t>
            </a:r>
            <a:endParaRPr sz="600">
              <a:solidFill>
                <a:srgbClr val="E5E0DF"/>
              </a:solidFill>
              <a:latin typeface="Times New Roman"/>
              <a:ea typeface="Times New Roman"/>
              <a:cs typeface="Times New Roman"/>
              <a:sym typeface="Times New Roman"/>
            </a:endParaRPr>
          </a:p>
          <a:p>
            <a:pPr indent="0" lvl="0" marL="0" rtl="0" algn="l">
              <a:lnSpc>
                <a:spcPct val="150000"/>
              </a:lnSpc>
              <a:spcBef>
                <a:spcPts val="1200"/>
              </a:spcBef>
              <a:spcAft>
                <a:spcPts val="1200"/>
              </a:spcAft>
              <a:buClr>
                <a:schemeClr val="dk1"/>
              </a:buClr>
              <a:buSzPts val="1100"/>
              <a:buFont typeface="Arial"/>
              <a:buNone/>
            </a:pPr>
            <a:r>
              <a:t/>
            </a:r>
            <a:endParaRPr sz="600">
              <a:solidFill>
                <a:srgbClr val="E5E0DF"/>
              </a:solidFill>
              <a:latin typeface="Times New Roman"/>
              <a:ea typeface="Times New Roman"/>
              <a:cs typeface="Times New Roman"/>
              <a:sym typeface="Times New Roman"/>
            </a:endParaRPr>
          </a:p>
        </p:txBody>
      </p:sp>
      <p:sp>
        <p:nvSpPr>
          <p:cNvPr id="192" name="Google Shape;192;p25"/>
          <p:cNvSpPr/>
          <p:nvPr/>
        </p:nvSpPr>
        <p:spPr>
          <a:xfrm>
            <a:off x="1035675" y="527025"/>
            <a:ext cx="7737000" cy="614700"/>
          </a:xfrm>
          <a:prstGeom prst="rect">
            <a:avLst/>
          </a:prstGeom>
          <a:noFill/>
          <a:ln>
            <a:noFill/>
          </a:ln>
        </p:spPr>
        <p:txBody>
          <a:bodyPr anchorCtr="0" anchor="t" bIns="0" lIns="0" spcFirstLastPara="1" rIns="0" wrap="square" tIns="0">
            <a:noAutofit/>
          </a:bodyPr>
          <a:lstStyle/>
          <a:p>
            <a:pPr indent="-400050" lvl="0" marL="457200" rtl="0" algn="l">
              <a:lnSpc>
                <a:spcPct val="150000"/>
              </a:lnSpc>
              <a:spcBef>
                <a:spcPts val="1200"/>
              </a:spcBef>
              <a:spcAft>
                <a:spcPts val="0"/>
              </a:spcAft>
              <a:buClr>
                <a:srgbClr val="E5E0DF"/>
              </a:buClr>
              <a:buSzPts val="2700"/>
              <a:buFont typeface="Times New Roman"/>
              <a:buChar char="●"/>
            </a:pPr>
            <a:r>
              <a:rPr lang="en-US" sz="2700">
                <a:solidFill>
                  <a:srgbClr val="E5E0DF"/>
                </a:solidFill>
                <a:latin typeface="Times New Roman"/>
                <a:ea typeface="Times New Roman"/>
                <a:cs typeface="Times New Roman"/>
                <a:sym typeface="Times New Roman"/>
              </a:rPr>
              <a:t>Create Models </a:t>
            </a:r>
            <a:endParaRPr b="0" i="0" sz="2700" u="none" cap="none" strike="noStrike">
              <a:solidFill>
                <a:srgbClr val="E5E0DF"/>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6"/>
          <p:cNvSpPr/>
          <p:nvPr/>
        </p:nvSpPr>
        <p:spPr>
          <a:xfrm>
            <a:off x="793790" y="1327428"/>
            <a:ext cx="4536519" cy="566976"/>
          </a:xfrm>
          <a:prstGeom prst="rect">
            <a:avLst/>
          </a:prstGeom>
          <a:noFill/>
          <a:ln>
            <a:noFill/>
          </a:ln>
        </p:spPr>
        <p:txBody>
          <a:bodyPr anchorCtr="0" anchor="t" bIns="0" lIns="0" spcFirstLastPara="1" rIns="0" wrap="square" tIns="0">
            <a:noAutofit/>
          </a:bodyPr>
          <a:lstStyle/>
          <a:p>
            <a:pPr indent="0" lvl="0" marL="0" marR="0" rtl="0" algn="l">
              <a:lnSpc>
                <a:spcPct val="125352"/>
              </a:lnSpc>
              <a:spcBef>
                <a:spcPts val="0"/>
              </a:spcBef>
              <a:spcAft>
                <a:spcPts val="0"/>
              </a:spcAft>
              <a:buSzPts val="3550"/>
              <a:buFont typeface="Arial"/>
              <a:buNone/>
            </a:pPr>
            <a:r>
              <a:t/>
            </a:r>
            <a:endParaRPr b="0" i="0" sz="3550" u="none" cap="none" strike="noStrike"/>
          </a:p>
        </p:txBody>
      </p:sp>
      <p:sp>
        <p:nvSpPr>
          <p:cNvPr id="199" name="Google Shape;199;p26"/>
          <p:cNvSpPr/>
          <p:nvPr/>
        </p:nvSpPr>
        <p:spPr>
          <a:xfrm>
            <a:off x="793790" y="6476881"/>
            <a:ext cx="3402330" cy="425291"/>
          </a:xfrm>
          <a:prstGeom prst="rect">
            <a:avLst/>
          </a:prstGeom>
          <a:noFill/>
          <a:ln>
            <a:noFill/>
          </a:ln>
        </p:spPr>
        <p:txBody>
          <a:bodyPr anchorCtr="0" anchor="t" bIns="0" lIns="0" spcFirstLastPara="1" rIns="0" wrap="square" tIns="0">
            <a:noAutofit/>
          </a:bodyPr>
          <a:lstStyle/>
          <a:p>
            <a:pPr indent="0" lvl="0" marL="0" marR="0" rtl="0" algn="l">
              <a:lnSpc>
                <a:spcPct val="124528"/>
              </a:lnSpc>
              <a:spcBef>
                <a:spcPts val="0"/>
              </a:spcBef>
              <a:spcAft>
                <a:spcPts val="0"/>
              </a:spcAft>
              <a:buSzPts val="2650"/>
              <a:buFont typeface="Arial"/>
              <a:buNone/>
            </a:pPr>
            <a:r>
              <a:t/>
            </a:r>
            <a:endParaRPr b="0" i="0" sz="2650" u="none" cap="none" strike="noStrike"/>
          </a:p>
        </p:txBody>
      </p:sp>
      <p:sp>
        <p:nvSpPr>
          <p:cNvPr id="200" name="Google Shape;200;p26"/>
          <p:cNvSpPr/>
          <p:nvPr/>
        </p:nvSpPr>
        <p:spPr>
          <a:xfrm>
            <a:off x="1364825" y="1300475"/>
            <a:ext cx="6593100" cy="614700"/>
          </a:xfrm>
          <a:prstGeom prst="rect">
            <a:avLst/>
          </a:prstGeom>
          <a:noFill/>
          <a:ln>
            <a:noFill/>
          </a:ln>
        </p:spPr>
        <p:txBody>
          <a:bodyPr anchorCtr="0" anchor="t" bIns="0" lIns="0" spcFirstLastPara="1" rIns="0" wrap="square" tIns="0">
            <a:noAutofit/>
          </a:bodyPr>
          <a:lstStyle/>
          <a:p>
            <a:pPr indent="-400050" lvl="0" marL="457200" rtl="0" algn="l">
              <a:lnSpc>
                <a:spcPct val="150000"/>
              </a:lnSpc>
              <a:spcBef>
                <a:spcPts val="1200"/>
              </a:spcBef>
              <a:spcAft>
                <a:spcPts val="0"/>
              </a:spcAft>
              <a:buClr>
                <a:srgbClr val="E5E0DF"/>
              </a:buClr>
              <a:buSzPts val="2700"/>
              <a:buFont typeface="Times New Roman"/>
              <a:buChar char="●"/>
            </a:pPr>
            <a:r>
              <a:rPr lang="en-US" sz="2700">
                <a:solidFill>
                  <a:srgbClr val="E5E0DF"/>
                </a:solidFill>
                <a:latin typeface="Times New Roman"/>
                <a:ea typeface="Times New Roman"/>
                <a:cs typeface="Times New Roman"/>
                <a:sym typeface="Times New Roman"/>
              </a:rPr>
              <a:t>Migrate to database </a:t>
            </a:r>
            <a:endParaRPr b="0" i="0" sz="2700" u="none" cap="none" strike="noStrike">
              <a:solidFill>
                <a:srgbClr val="E5E0DF"/>
              </a:solidFill>
            </a:endParaRPr>
          </a:p>
        </p:txBody>
      </p:sp>
      <p:pic>
        <p:nvPicPr>
          <p:cNvPr id="201" name="Google Shape;201;p26"/>
          <p:cNvPicPr preferRelativeResize="0"/>
          <p:nvPr/>
        </p:nvPicPr>
        <p:blipFill>
          <a:blip r:embed="rId3">
            <a:alphaModFix/>
          </a:blip>
          <a:stretch>
            <a:fillRect/>
          </a:stretch>
        </p:blipFill>
        <p:spPr>
          <a:xfrm>
            <a:off x="2918675" y="2245650"/>
            <a:ext cx="8949076" cy="49468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7"/>
          <p:cNvSpPr/>
          <p:nvPr/>
        </p:nvSpPr>
        <p:spPr>
          <a:xfrm>
            <a:off x="793790" y="3618667"/>
            <a:ext cx="4536519" cy="566976"/>
          </a:xfrm>
          <a:prstGeom prst="rect">
            <a:avLst/>
          </a:prstGeom>
          <a:noFill/>
          <a:ln>
            <a:noFill/>
          </a:ln>
        </p:spPr>
        <p:txBody>
          <a:bodyPr anchorCtr="0" anchor="t" bIns="0" lIns="0" spcFirstLastPara="1" rIns="0" wrap="square" tIns="0">
            <a:noAutofit/>
          </a:bodyPr>
          <a:lstStyle/>
          <a:p>
            <a:pPr indent="0" lvl="0" marL="0" marR="0" rtl="0" algn="l">
              <a:lnSpc>
                <a:spcPct val="125352"/>
              </a:lnSpc>
              <a:spcBef>
                <a:spcPts val="0"/>
              </a:spcBef>
              <a:spcAft>
                <a:spcPts val="0"/>
              </a:spcAft>
              <a:buSzPts val="3550"/>
              <a:buFont typeface="Arial"/>
              <a:buNone/>
            </a:pPr>
            <a:r>
              <a:t/>
            </a:r>
            <a:endParaRPr b="0" i="0" sz="3550" u="none" cap="none" strike="noStrike"/>
          </a:p>
        </p:txBody>
      </p:sp>
      <p:sp>
        <p:nvSpPr>
          <p:cNvPr id="208" name="Google Shape;208;p27"/>
          <p:cNvSpPr/>
          <p:nvPr/>
        </p:nvSpPr>
        <p:spPr>
          <a:xfrm>
            <a:off x="1364825" y="1300475"/>
            <a:ext cx="7737000" cy="614700"/>
          </a:xfrm>
          <a:prstGeom prst="rect">
            <a:avLst/>
          </a:prstGeom>
          <a:noFill/>
          <a:ln>
            <a:noFill/>
          </a:ln>
        </p:spPr>
        <p:txBody>
          <a:bodyPr anchorCtr="0" anchor="t" bIns="0" lIns="0" spcFirstLastPara="1" rIns="0" wrap="square" tIns="0">
            <a:noAutofit/>
          </a:bodyPr>
          <a:lstStyle/>
          <a:p>
            <a:pPr indent="-400050" lvl="0" marL="457200" rtl="0" algn="l">
              <a:lnSpc>
                <a:spcPct val="150000"/>
              </a:lnSpc>
              <a:spcBef>
                <a:spcPts val="1200"/>
              </a:spcBef>
              <a:spcAft>
                <a:spcPts val="0"/>
              </a:spcAft>
              <a:buClr>
                <a:srgbClr val="E5E0DF"/>
              </a:buClr>
              <a:buSzPts val="2700"/>
              <a:buFont typeface="Times New Roman"/>
              <a:buChar char="●"/>
            </a:pPr>
            <a:r>
              <a:rPr lang="en-US" sz="2700">
                <a:solidFill>
                  <a:srgbClr val="E5E0DF"/>
                </a:solidFill>
                <a:latin typeface="Times New Roman"/>
                <a:ea typeface="Times New Roman"/>
                <a:cs typeface="Times New Roman"/>
                <a:sym typeface="Times New Roman"/>
              </a:rPr>
              <a:t>Database Tables (SQL Server) with sample records</a:t>
            </a:r>
            <a:endParaRPr b="0" i="0" sz="2700" u="none" cap="none" strike="noStrike">
              <a:solidFill>
                <a:srgbClr val="E5E0DF"/>
              </a:solidFill>
            </a:endParaRPr>
          </a:p>
        </p:txBody>
      </p:sp>
      <p:pic>
        <p:nvPicPr>
          <p:cNvPr id="209" name="Google Shape;209;p27"/>
          <p:cNvPicPr preferRelativeResize="0"/>
          <p:nvPr/>
        </p:nvPicPr>
        <p:blipFill>
          <a:blip r:embed="rId3">
            <a:alphaModFix/>
          </a:blip>
          <a:stretch>
            <a:fillRect/>
          </a:stretch>
        </p:blipFill>
        <p:spPr>
          <a:xfrm>
            <a:off x="3313775" y="2478550"/>
            <a:ext cx="8434475" cy="46611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28"/>
          <p:cNvSpPr/>
          <p:nvPr/>
        </p:nvSpPr>
        <p:spPr>
          <a:xfrm>
            <a:off x="1364825" y="1067450"/>
            <a:ext cx="6593100" cy="614700"/>
          </a:xfrm>
          <a:prstGeom prst="rect">
            <a:avLst/>
          </a:prstGeom>
          <a:noFill/>
          <a:ln>
            <a:noFill/>
          </a:ln>
        </p:spPr>
        <p:txBody>
          <a:bodyPr anchorCtr="0" anchor="t" bIns="0" lIns="0" spcFirstLastPara="1" rIns="0" wrap="square" tIns="0">
            <a:noAutofit/>
          </a:bodyPr>
          <a:lstStyle/>
          <a:p>
            <a:pPr indent="-400050" lvl="0" marL="457200" rtl="0" algn="l">
              <a:lnSpc>
                <a:spcPct val="150000"/>
              </a:lnSpc>
              <a:spcBef>
                <a:spcPts val="1200"/>
              </a:spcBef>
              <a:spcAft>
                <a:spcPts val="0"/>
              </a:spcAft>
              <a:buClr>
                <a:srgbClr val="E5E0DF"/>
              </a:buClr>
              <a:buSzPts val="2700"/>
              <a:buFont typeface="Times New Roman"/>
              <a:buChar char="●"/>
            </a:pPr>
            <a:r>
              <a:rPr lang="en-US" sz="2700">
                <a:solidFill>
                  <a:srgbClr val="E5E0DF"/>
                </a:solidFill>
                <a:latin typeface="Times New Roman"/>
                <a:ea typeface="Times New Roman"/>
                <a:cs typeface="Times New Roman"/>
                <a:sym typeface="Times New Roman"/>
              </a:rPr>
              <a:t>CRUD and Other Operations </a:t>
            </a:r>
            <a:endParaRPr b="0" i="0" sz="2700" u="none" cap="none" strike="noStrike">
              <a:solidFill>
                <a:srgbClr val="E5E0DF"/>
              </a:solidFill>
            </a:endParaRPr>
          </a:p>
        </p:txBody>
      </p:sp>
      <p:pic>
        <p:nvPicPr>
          <p:cNvPr id="216" name="Google Shape;216;p28"/>
          <p:cNvPicPr preferRelativeResize="0"/>
          <p:nvPr/>
        </p:nvPicPr>
        <p:blipFill>
          <a:blip r:embed="rId3">
            <a:alphaModFix/>
          </a:blip>
          <a:stretch>
            <a:fillRect/>
          </a:stretch>
        </p:blipFill>
        <p:spPr>
          <a:xfrm>
            <a:off x="2133600" y="1968325"/>
            <a:ext cx="10363200" cy="4714875"/>
          </a:xfrm>
          <a:prstGeom prst="rect">
            <a:avLst/>
          </a:prstGeom>
          <a:noFill/>
          <a:ln>
            <a:noFill/>
          </a:ln>
        </p:spPr>
      </p:pic>
      <p:sp>
        <p:nvSpPr>
          <p:cNvPr id="217" name="Google Shape;217;p28"/>
          <p:cNvSpPr/>
          <p:nvPr/>
        </p:nvSpPr>
        <p:spPr>
          <a:xfrm>
            <a:off x="5216100" y="7247225"/>
            <a:ext cx="4198200" cy="614700"/>
          </a:xfrm>
          <a:prstGeom prst="rect">
            <a:avLst/>
          </a:prstGeom>
          <a:noFill/>
          <a:ln>
            <a:noFill/>
          </a:ln>
        </p:spPr>
        <p:txBody>
          <a:bodyPr anchorCtr="0" anchor="t" bIns="0" lIns="0" spcFirstLastPara="1" rIns="0" wrap="square" tIns="0">
            <a:noAutofit/>
          </a:bodyPr>
          <a:lstStyle/>
          <a:p>
            <a:pPr indent="0" lvl="0" marL="457200" rtl="0" algn="l">
              <a:lnSpc>
                <a:spcPct val="150000"/>
              </a:lnSpc>
              <a:spcBef>
                <a:spcPts val="1200"/>
              </a:spcBef>
              <a:spcAft>
                <a:spcPts val="1200"/>
              </a:spcAft>
              <a:buNone/>
            </a:pPr>
            <a:r>
              <a:rPr lang="en-US" sz="1750">
                <a:solidFill>
                  <a:srgbClr val="E5E0DF"/>
                </a:solidFill>
                <a:latin typeface="Times New Roman"/>
                <a:ea typeface="Times New Roman"/>
                <a:cs typeface="Times New Roman"/>
                <a:sym typeface="Times New Roman"/>
              </a:rPr>
              <a:t>Sample of Employee Controller Code</a:t>
            </a:r>
            <a:endParaRPr b="0" i="0" sz="1750" u="none" cap="none" strike="noStrike">
              <a:solidFill>
                <a:srgbClr val="E5E0DF"/>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9"/>
          <p:cNvSpPr/>
          <p:nvPr/>
        </p:nvSpPr>
        <p:spPr>
          <a:xfrm>
            <a:off x="1364825" y="1067450"/>
            <a:ext cx="6593100" cy="614700"/>
          </a:xfrm>
          <a:prstGeom prst="rect">
            <a:avLst/>
          </a:prstGeom>
          <a:noFill/>
          <a:ln>
            <a:noFill/>
          </a:ln>
        </p:spPr>
        <p:txBody>
          <a:bodyPr anchorCtr="0" anchor="t" bIns="0" lIns="0" spcFirstLastPara="1" rIns="0" wrap="square" tIns="0">
            <a:noAutofit/>
          </a:bodyPr>
          <a:lstStyle/>
          <a:p>
            <a:pPr indent="-400050" lvl="0" marL="457200" rtl="0" algn="l">
              <a:lnSpc>
                <a:spcPct val="150000"/>
              </a:lnSpc>
              <a:spcBef>
                <a:spcPts val="1200"/>
              </a:spcBef>
              <a:spcAft>
                <a:spcPts val="0"/>
              </a:spcAft>
              <a:buClr>
                <a:srgbClr val="E5E0DF"/>
              </a:buClr>
              <a:buSzPts val="2700"/>
              <a:buFont typeface="Times New Roman"/>
              <a:buChar char="●"/>
            </a:pPr>
            <a:r>
              <a:rPr lang="en-US" sz="2700">
                <a:solidFill>
                  <a:srgbClr val="E5E0DF"/>
                </a:solidFill>
                <a:latin typeface="Times New Roman"/>
                <a:ea typeface="Times New Roman"/>
                <a:cs typeface="Times New Roman"/>
                <a:sym typeface="Times New Roman"/>
              </a:rPr>
              <a:t>API Testing on Postman</a:t>
            </a:r>
            <a:endParaRPr b="0" i="0" sz="2700" u="none" cap="none" strike="noStrike">
              <a:solidFill>
                <a:srgbClr val="E5E0DF"/>
              </a:solidFill>
            </a:endParaRPr>
          </a:p>
        </p:txBody>
      </p:sp>
      <p:pic>
        <p:nvPicPr>
          <p:cNvPr id="224" name="Google Shape;224;p29"/>
          <p:cNvPicPr preferRelativeResize="0"/>
          <p:nvPr/>
        </p:nvPicPr>
        <p:blipFill>
          <a:blip r:embed="rId3">
            <a:alphaModFix/>
          </a:blip>
          <a:stretch>
            <a:fillRect/>
          </a:stretch>
        </p:blipFill>
        <p:spPr>
          <a:xfrm>
            <a:off x="3017925" y="1967850"/>
            <a:ext cx="8889975" cy="51196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0"/>
          <p:cNvSpPr/>
          <p:nvPr/>
        </p:nvSpPr>
        <p:spPr>
          <a:xfrm>
            <a:off x="793801" y="1116900"/>
            <a:ext cx="6192900" cy="567000"/>
          </a:xfrm>
          <a:prstGeom prst="rect">
            <a:avLst/>
          </a:prstGeom>
          <a:noFill/>
          <a:ln>
            <a:noFill/>
          </a:ln>
        </p:spPr>
        <p:txBody>
          <a:bodyPr anchorCtr="0" anchor="t" bIns="0" lIns="0" spcFirstLastPara="1" rIns="0" wrap="square" tIns="0">
            <a:noAutofit/>
          </a:bodyPr>
          <a:lstStyle/>
          <a:p>
            <a:pPr indent="0" lvl="0" marL="0" marR="0" rtl="0" algn="l">
              <a:lnSpc>
                <a:spcPct val="125352"/>
              </a:lnSpc>
              <a:spcBef>
                <a:spcPts val="0"/>
              </a:spcBef>
              <a:spcAft>
                <a:spcPts val="0"/>
              </a:spcAft>
              <a:buClr>
                <a:srgbClr val="FFFFFF"/>
              </a:buClr>
              <a:buSzPts val="3550"/>
              <a:buFont typeface="Roboto Mono"/>
              <a:buNone/>
            </a:pPr>
            <a:r>
              <a:rPr b="0" i="0" lang="en-US" sz="3550" u="none" cap="none" strike="noStrike">
                <a:solidFill>
                  <a:srgbClr val="FFFFFF"/>
                </a:solidFill>
                <a:latin typeface="Roboto Mono"/>
                <a:ea typeface="Roboto Mono"/>
                <a:cs typeface="Roboto Mono"/>
                <a:sym typeface="Roboto Mono"/>
              </a:rPr>
              <a:t>Challenges &amp; Solutions</a:t>
            </a:r>
            <a:endParaRPr b="0" i="0" sz="3550" u="none" cap="none" strike="noStrike"/>
          </a:p>
        </p:txBody>
      </p:sp>
      <p:sp>
        <p:nvSpPr>
          <p:cNvPr id="231" name="Google Shape;231;p30"/>
          <p:cNvSpPr/>
          <p:nvPr/>
        </p:nvSpPr>
        <p:spPr>
          <a:xfrm>
            <a:off x="793800" y="2530550"/>
            <a:ext cx="13042800" cy="4497600"/>
          </a:xfrm>
          <a:prstGeom prst="roundRect">
            <a:avLst>
              <a:gd fmla="val 812" name="adj"/>
            </a:avLst>
          </a:prstGeom>
          <a:noFill/>
          <a:ln cap="flat" cmpd="sng" w="9525">
            <a:solidFill>
              <a:srgbClr val="FFFFFF">
                <a:alpha val="2392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30"/>
          <p:cNvSpPr/>
          <p:nvPr/>
        </p:nvSpPr>
        <p:spPr>
          <a:xfrm>
            <a:off x="801410" y="2538174"/>
            <a:ext cx="13027500" cy="650400"/>
          </a:xfrm>
          <a:prstGeom prst="rect">
            <a:avLst/>
          </a:prstGeom>
          <a:solidFill>
            <a:srgbClr val="FFFFFF">
              <a:alpha val="39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30"/>
          <p:cNvSpPr/>
          <p:nvPr/>
        </p:nvSpPr>
        <p:spPr>
          <a:xfrm>
            <a:off x="1028224" y="2681883"/>
            <a:ext cx="6056352"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SzPts val="1750"/>
              <a:buFont typeface="Arial"/>
              <a:buNone/>
            </a:pPr>
            <a:r>
              <a:t/>
            </a:r>
            <a:endParaRPr b="0" i="0" sz="1750" u="none" cap="none" strike="noStrike"/>
          </a:p>
        </p:txBody>
      </p:sp>
      <p:sp>
        <p:nvSpPr>
          <p:cNvPr id="234" name="Google Shape;234;p30"/>
          <p:cNvSpPr/>
          <p:nvPr/>
        </p:nvSpPr>
        <p:spPr>
          <a:xfrm>
            <a:off x="7545824" y="2681883"/>
            <a:ext cx="6056352"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SzPts val="1750"/>
              <a:buFont typeface="Arial"/>
              <a:buNone/>
            </a:pPr>
            <a:r>
              <a:t/>
            </a:r>
            <a:endParaRPr b="0" i="0" sz="1750" u="none" cap="none" strike="noStrike"/>
          </a:p>
        </p:txBody>
      </p:sp>
      <p:sp>
        <p:nvSpPr>
          <p:cNvPr id="235" name="Google Shape;235;p30"/>
          <p:cNvSpPr/>
          <p:nvPr/>
        </p:nvSpPr>
        <p:spPr>
          <a:xfrm>
            <a:off x="801410" y="3007044"/>
            <a:ext cx="13027500" cy="2011200"/>
          </a:xfrm>
          <a:prstGeom prst="rect">
            <a:avLst/>
          </a:prstGeom>
          <a:solidFill>
            <a:srgbClr val="000000">
              <a:alpha val="392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1750">
                <a:solidFill>
                  <a:srgbClr val="E5E0DF"/>
                </a:solidFill>
              </a:rPr>
              <a:t>Challenge 1:</a:t>
            </a:r>
            <a:r>
              <a:rPr lang="en-US" sz="1750">
                <a:solidFill>
                  <a:srgbClr val="E5E0DF"/>
                </a:solidFill>
              </a:rPr>
              <a:t> Handling </a:t>
            </a:r>
            <a:r>
              <a:rPr b="1" lang="en-US" sz="1750">
                <a:solidFill>
                  <a:srgbClr val="E5E0DF"/>
                </a:solidFill>
              </a:rPr>
              <a:t>Git merge conflicts</a:t>
            </a:r>
            <a:r>
              <a:rPr lang="en-US" sz="1750">
                <a:solidFill>
                  <a:srgbClr val="E5E0DF"/>
                </a:solidFill>
              </a:rPr>
              <a:t> while collaborating with multiple developers.</a:t>
            </a:r>
            <a:endParaRPr sz="1750">
              <a:solidFill>
                <a:srgbClr val="E5E0DF"/>
              </a:solidFill>
            </a:endParaRPr>
          </a:p>
          <a:p>
            <a:pPr indent="0" lvl="0" marL="0" rtl="0" algn="l">
              <a:spcBef>
                <a:spcPts val="0"/>
              </a:spcBef>
              <a:spcAft>
                <a:spcPts val="0"/>
              </a:spcAft>
              <a:buClr>
                <a:schemeClr val="dk1"/>
              </a:buClr>
              <a:buSzPts val="1100"/>
              <a:buFont typeface="Arial"/>
              <a:buNone/>
            </a:pPr>
            <a:r>
              <a:t/>
            </a:r>
            <a:endParaRPr sz="1750">
              <a:solidFill>
                <a:srgbClr val="E5E0DF"/>
              </a:solidFill>
            </a:endParaRPr>
          </a:p>
          <a:p>
            <a:pPr indent="0" lvl="0" marL="0" rtl="0" algn="l">
              <a:spcBef>
                <a:spcPts val="0"/>
              </a:spcBef>
              <a:spcAft>
                <a:spcPts val="0"/>
              </a:spcAft>
              <a:buNone/>
            </a:pPr>
            <a:r>
              <a:rPr b="1" lang="en-US" sz="1750">
                <a:solidFill>
                  <a:srgbClr val="E5E0DF"/>
                </a:solidFill>
              </a:rPr>
              <a:t>Solution:</a:t>
            </a:r>
            <a:r>
              <a:rPr lang="en-US" sz="1750">
                <a:solidFill>
                  <a:srgbClr val="E5E0DF"/>
                </a:solidFill>
              </a:rPr>
              <a:t> Regularly pulled updates, communicated effectively with teammates, and resolved conflicts systematically to maintain code integrity.</a:t>
            </a:r>
            <a:endParaRPr>
              <a:solidFill>
                <a:srgbClr val="E5E0DF"/>
              </a:solidFill>
            </a:endParaRPr>
          </a:p>
        </p:txBody>
      </p:sp>
      <p:sp>
        <p:nvSpPr>
          <p:cNvPr id="236" name="Google Shape;236;p30"/>
          <p:cNvSpPr/>
          <p:nvPr/>
        </p:nvSpPr>
        <p:spPr>
          <a:xfrm>
            <a:off x="801400" y="5199700"/>
            <a:ext cx="13027500" cy="1828500"/>
          </a:xfrm>
          <a:prstGeom prst="rect">
            <a:avLst/>
          </a:prstGeom>
          <a:solidFill>
            <a:srgbClr val="FFFFFF">
              <a:alpha val="392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1750">
                <a:solidFill>
                  <a:srgbClr val="E5E0DF"/>
                </a:solidFill>
              </a:rPr>
              <a:t>Challenge 2: </a:t>
            </a:r>
            <a:r>
              <a:rPr lang="en-US" sz="1750">
                <a:solidFill>
                  <a:srgbClr val="E5E0DF"/>
                </a:solidFill>
              </a:rPr>
              <a:t>Weekly updates were not limited to planned tasks, often requiring extra work beyond the schedule.</a:t>
            </a:r>
            <a:endParaRPr sz="1750">
              <a:solidFill>
                <a:srgbClr val="E5E0DF"/>
              </a:solidFill>
            </a:endParaRPr>
          </a:p>
          <a:p>
            <a:pPr indent="0" lvl="0" marL="0" rtl="0" algn="l">
              <a:spcBef>
                <a:spcPts val="0"/>
              </a:spcBef>
              <a:spcAft>
                <a:spcPts val="0"/>
              </a:spcAft>
              <a:buClr>
                <a:schemeClr val="dk1"/>
              </a:buClr>
              <a:buSzPts val="1100"/>
              <a:buFont typeface="Arial"/>
              <a:buNone/>
            </a:pPr>
            <a:r>
              <a:t/>
            </a:r>
            <a:endParaRPr b="1" sz="1750">
              <a:solidFill>
                <a:srgbClr val="E5E0DF"/>
              </a:solidFill>
            </a:endParaRPr>
          </a:p>
          <a:p>
            <a:pPr indent="0" lvl="0" marL="0" rtl="0" algn="l">
              <a:spcBef>
                <a:spcPts val="0"/>
              </a:spcBef>
              <a:spcAft>
                <a:spcPts val="0"/>
              </a:spcAft>
              <a:buNone/>
            </a:pPr>
            <a:r>
              <a:rPr b="1" lang="en-US" sz="1750">
                <a:solidFill>
                  <a:srgbClr val="E5E0DF"/>
                </a:solidFill>
              </a:rPr>
              <a:t>Solution: </a:t>
            </a:r>
            <a:r>
              <a:rPr lang="en-US" sz="1750">
                <a:solidFill>
                  <a:srgbClr val="E5E0DF"/>
                </a:solidFill>
              </a:rPr>
              <a:t>Prioritized tasks, managed time efficiently, and adapted to changing requirements to ensure timely delivery without compromising quality.</a:t>
            </a:r>
            <a:endParaRPr sz="1750">
              <a:solidFill>
                <a:srgbClr val="E5E0DF"/>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1"/>
          <p:cNvSpPr/>
          <p:nvPr/>
        </p:nvSpPr>
        <p:spPr>
          <a:xfrm>
            <a:off x="793790" y="1200626"/>
            <a:ext cx="4536519" cy="566976"/>
          </a:xfrm>
          <a:prstGeom prst="rect">
            <a:avLst/>
          </a:prstGeom>
          <a:noFill/>
          <a:ln>
            <a:noFill/>
          </a:ln>
        </p:spPr>
        <p:txBody>
          <a:bodyPr anchorCtr="0" anchor="t" bIns="0" lIns="0" spcFirstLastPara="1" rIns="0" wrap="square" tIns="0">
            <a:noAutofit/>
          </a:bodyPr>
          <a:lstStyle/>
          <a:p>
            <a:pPr indent="0" lvl="0" marL="0" marR="0" rtl="0" algn="l">
              <a:lnSpc>
                <a:spcPct val="125352"/>
              </a:lnSpc>
              <a:spcBef>
                <a:spcPts val="0"/>
              </a:spcBef>
              <a:spcAft>
                <a:spcPts val="0"/>
              </a:spcAft>
              <a:buClr>
                <a:srgbClr val="FFFFFF"/>
              </a:buClr>
              <a:buSzPts val="3550"/>
              <a:buFont typeface="Roboto Mono"/>
              <a:buNone/>
            </a:pPr>
            <a:r>
              <a:rPr b="0" i="0" lang="en-US" sz="3550" u="none" cap="none" strike="noStrike">
                <a:solidFill>
                  <a:srgbClr val="FFFFFF"/>
                </a:solidFill>
                <a:latin typeface="Roboto Mono"/>
                <a:ea typeface="Roboto Mono"/>
                <a:cs typeface="Roboto Mono"/>
                <a:sym typeface="Roboto Mono"/>
              </a:rPr>
              <a:t>Conclusion</a:t>
            </a:r>
            <a:endParaRPr b="0" i="0" sz="3550" u="none" cap="none" strike="noStrike"/>
          </a:p>
        </p:txBody>
      </p:sp>
      <p:sp>
        <p:nvSpPr>
          <p:cNvPr id="243" name="Google Shape;243;p31"/>
          <p:cNvSpPr/>
          <p:nvPr/>
        </p:nvSpPr>
        <p:spPr>
          <a:xfrm>
            <a:off x="793800" y="2463925"/>
            <a:ext cx="13042800" cy="38496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5E0DF"/>
              </a:buClr>
              <a:buSzPts val="1750"/>
              <a:buFont typeface="Roboto"/>
              <a:buNone/>
            </a:pPr>
            <a:r>
              <a:rPr lang="en-US" sz="1800">
                <a:solidFill>
                  <a:srgbClr val="E5E0DF"/>
                </a:solidFill>
              </a:rPr>
              <a:t>The internship at </a:t>
            </a:r>
            <a:r>
              <a:rPr b="1" lang="en-US" sz="1800">
                <a:solidFill>
                  <a:srgbClr val="E5E0DF"/>
                </a:solidFill>
              </a:rPr>
              <a:t>AFRICOM PLC</a:t>
            </a:r>
            <a:r>
              <a:rPr lang="en-US" sz="1800">
                <a:solidFill>
                  <a:srgbClr val="E5E0DF"/>
                </a:solidFill>
              </a:rPr>
              <a:t> provided invaluable hands-on experience in backend development and enterprise IT systems. I gained practical skills in </a:t>
            </a:r>
            <a:r>
              <a:rPr b="1" lang="en-US" sz="1800">
                <a:solidFill>
                  <a:srgbClr val="E5E0DF"/>
                </a:solidFill>
              </a:rPr>
              <a:t>database design, API development, authentication, and multi-tenant system implementation</a:t>
            </a:r>
            <a:r>
              <a:rPr lang="en-US" sz="1800">
                <a:solidFill>
                  <a:srgbClr val="E5E0DF"/>
                </a:solidFill>
              </a:rPr>
              <a:t>, while also improving </a:t>
            </a:r>
            <a:r>
              <a:rPr b="1" lang="en-US" sz="1800">
                <a:solidFill>
                  <a:srgbClr val="E5E0DF"/>
                </a:solidFill>
              </a:rPr>
              <a:t>problem-solving, teamwork, and professional communication</a:t>
            </a:r>
            <a:r>
              <a:rPr lang="en-US" sz="1800">
                <a:solidFill>
                  <a:srgbClr val="E5E0DF"/>
                </a:solidFill>
              </a:rPr>
              <a:t>. The challenges faced, such as managing Git merges and integrating complex modules, strengthened my technical and organizational abilities. Overall, this internship bridged the gap between academic learning and professional practice, preparing me for a successful career as a backend developer in real-world software environments.</a:t>
            </a:r>
            <a:endParaRPr b="0" i="0" sz="1800" u="none" cap="none" strike="noStrike">
              <a:solidFill>
                <a:srgbClr val="E5E0DF"/>
              </a:solidFill>
            </a:endParaRPr>
          </a:p>
        </p:txBody>
      </p:sp>
      <p:sp>
        <p:nvSpPr>
          <p:cNvPr id="244" name="Google Shape;244;p31"/>
          <p:cNvSpPr/>
          <p:nvPr/>
        </p:nvSpPr>
        <p:spPr>
          <a:xfrm>
            <a:off x="793790" y="6461879"/>
            <a:ext cx="4536519" cy="566976"/>
          </a:xfrm>
          <a:prstGeom prst="rect">
            <a:avLst/>
          </a:prstGeom>
          <a:noFill/>
          <a:ln>
            <a:noFill/>
          </a:ln>
        </p:spPr>
        <p:txBody>
          <a:bodyPr anchorCtr="0" anchor="t" bIns="0" lIns="0" spcFirstLastPara="1" rIns="0" wrap="square" tIns="0">
            <a:noAutofit/>
          </a:bodyPr>
          <a:lstStyle/>
          <a:p>
            <a:pPr indent="0" lvl="0" marL="0" marR="0" rtl="0" algn="l">
              <a:lnSpc>
                <a:spcPct val="125352"/>
              </a:lnSpc>
              <a:spcBef>
                <a:spcPts val="0"/>
              </a:spcBef>
              <a:spcAft>
                <a:spcPts val="0"/>
              </a:spcAft>
              <a:buSzPts val="3550"/>
              <a:buFont typeface="Arial"/>
              <a:buNone/>
            </a:pPr>
            <a:r>
              <a:t/>
            </a:r>
            <a:endParaRPr b="0" i="0" sz="3550" u="none" cap="none" strike="noStrike"/>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32"/>
          <p:cNvSpPr/>
          <p:nvPr/>
        </p:nvSpPr>
        <p:spPr>
          <a:xfrm>
            <a:off x="793790" y="2477333"/>
            <a:ext cx="7825502" cy="978218"/>
          </a:xfrm>
          <a:prstGeom prst="rect">
            <a:avLst/>
          </a:prstGeom>
          <a:noFill/>
          <a:ln>
            <a:noFill/>
          </a:ln>
        </p:spPr>
        <p:txBody>
          <a:bodyPr anchorCtr="0" anchor="t" bIns="0" lIns="0" spcFirstLastPara="1" rIns="0" wrap="square" tIns="0">
            <a:noAutofit/>
          </a:bodyPr>
          <a:lstStyle/>
          <a:p>
            <a:pPr indent="0" lvl="0" marL="0" marR="0" rtl="0" algn="l">
              <a:lnSpc>
                <a:spcPct val="125203"/>
              </a:lnSpc>
              <a:spcBef>
                <a:spcPts val="0"/>
              </a:spcBef>
              <a:spcAft>
                <a:spcPts val="0"/>
              </a:spcAft>
              <a:buClr>
                <a:srgbClr val="DCFF50"/>
              </a:buClr>
              <a:buSzPts val="6150"/>
              <a:buFont typeface="Roboto Mono"/>
              <a:buNone/>
            </a:pPr>
            <a:r>
              <a:rPr b="0" i="0" lang="en-US" sz="6150" u="none" cap="none" strike="noStrike">
                <a:solidFill>
                  <a:srgbClr val="DCFF50"/>
                </a:solidFill>
                <a:latin typeface="Roboto Mono"/>
                <a:ea typeface="Roboto Mono"/>
                <a:cs typeface="Roboto Mono"/>
                <a:sym typeface="Roboto Mono"/>
              </a:rPr>
              <a:t>Thank you !!</a:t>
            </a:r>
            <a:endParaRPr b="0" i="0" sz="6150" u="none" cap="none" strike="noStrike"/>
          </a:p>
        </p:txBody>
      </p:sp>
      <p:sp>
        <p:nvSpPr>
          <p:cNvPr id="251" name="Google Shape;251;p32"/>
          <p:cNvSpPr/>
          <p:nvPr/>
        </p:nvSpPr>
        <p:spPr>
          <a:xfrm>
            <a:off x="2382875" y="3815550"/>
            <a:ext cx="12104700" cy="1956300"/>
          </a:xfrm>
          <a:prstGeom prst="rect">
            <a:avLst/>
          </a:prstGeom>
          <a:noFill/>
          <a:ln>
            <a:noFill/>
          </a:ln>
        </p:spPr>
        <p:txBody>
          <a:bodyPr anchorCtr="0" anchor="t" bIns="0" lIns="0" spcFirstLastPara="1" rIns="0" wrap="square" tIns="0">
            <a:noAutofit/>
          </a:bodyPr>
          <a:lstStyle/>
          <a:p>
            <a:pPr indent="0" lvl="0" marL="0" marR="0" rtl="0" algn="l">
              <a:lnSpc>
                <a:spcPct val="125203"/>
              </a:lnSpc>
              <a:spcBef>
                <a:spcPts val="0"/>
              </a:spcBef>
              <a:spcAft>
                <a:spcPts val="0"/>
              </a:spcAft>
              <a:buClr>
                <a:srgbClr val="FFFFFF"/>
              </a:buClr>
              <a:buSzPts val="6150"/>
              <a:buFont typeface="Roboto Mono"/>
              <a:buNone/>
            </a:pPr>
            <a:r>
              <a:rPr b="0" i="0" lang="en-US" sz="6150" u="none" cap="none" strike="noStrike">
                <a:solidFill>
                  <a:srgbClr val="FFFFFF"/>
                </a:solidFill>
                <a:latin typeface="Roboto Mono"/>
                <a:ea typeface="Roboto Mono"/>
                <a:cs typeface="Roboto Mono"/>
                <a:sym typeface="Roboto Mono"/>
              </a:rPr>
              <a:t>         </a:t>
            </a:r>
            <a:r>
              <a:rPr lang="en-US" sz="6150">
                <a:solidFill>
                  <a:srgbClr val="DCFF50"/>
                </a:solidFill>
                <a:latin typeface="Roboto Mono"/>
                <a:ea typeface="Roboto Mono"/>
                <a:cs typeface="Roboto Mono"/>
                <a:sym typeface="Roboto Mono"/>
              </a:rPr>
              <a:t>F</a:t>
            </a:r>
            <a:r>
              <a:rPr b="0" i="0" lang="en-US" sz="6150" u="none" cap="none" strike="noStrike">
                <a:solidFill>
                  <a:srgbClr val="DCFF50"/>
                </a:solidFill>
                <a:latin typeface="Roboto Mono"/>
                <a:ea typeface="Roboto Mono"/>
                <a:cs typeface="Roboto Mono"/>
                <a:sym typeface="Roboto Mono"/>
              </a:rPr>
              <a:t>or </a:t>
            </a:r>
            <a:r>
              <a:rPr lang="en-US" sz="6150">
                <a:solidFill>
                  <a:srgbClr val="DCFF50"/>
                </a:solidFill>
                <a:latin typeface="Roboto Mono"/>
                <a:ea typeface="Roboto Mono"/>
                <a:cs typeface="Roboto Mono"/>
                <a:sym typeface="Roboto Mono"/>
              </a:rPr>
              <a:t>L</a:t>
            </a:r>
            <a:r>
              <a:rPr b="0" i="0" lang="en-US" sz="6150" u="none" cap="none" strike="noStrike">
                <a:solidFill>
                  <a:srgbClr val="DCFF50"/>
                </a:solidFill>
                <a:latin typeface="Roboto Mono"/>
                <a:ea typeface="Roboto Mono"/>
                <a:cs typeface="Roboto Mono"/>
                <a:sym typeface="Roboto Mono"/>
              </a:rPr>
              <a:t>istening.</a:t>
            </a:r>
            <a:endParaRPr b="0" i="0" sz="6150" u="none" cap="none" strike="noStrike"/>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33"/>
          <p:cNvSpPr/>
          <p:nvPr/>
        </p:nvSpPr>
        <p:spPr>
          <a:xfrm>
            <a:off x="793790" y="3760351"/>
            <a:ext cx="5670590"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SzPts val="4450"/>
              <a:buFont typeface="Arial"/>
              <a:buNone/>
            </a:pPr>
            <a:r>
              <a:t/>
            </a:r>
            <a:endParaRPr b="0" i="0" sz="4450" u="none" cap="none" strike="noStrike"/>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